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13716000" cx="24387025"/>
  <p:notesSz cx="13716000" cy="24387025"/>
  <p:embeddedFontLst>
    <p:embeddedFont>
      <p:font typeface="Roboto"/>
      <p:regular r:id="rId31"/>
      <p:bold r:id="rId32"/>
      <p:italic r:id="rId33"/>
      <p:boldItalic r:id="rId34"/>
    </p:embeddedFont>
    <p:embeddedFont>
      <p:font typeface="Red Hat Display Black"/>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iOK8vhiNTa+IdZKBgdvIjb5z/g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schemas.openxmlformats.org/officeDocument/2006/relationships/font" Target="fonts/RedHatDisplayBlack-bold.fnt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font" Target="fonts/RedHatDisplayBlack-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3b8a71300e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3b8a71300e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g33b8a71300e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3b8a71300e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g33b8a71300e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 name="Google Shape;25;g33b8a71300e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g33b8a71300e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g33b8a71300e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 name="Google Shape;33;g33b8a71300e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33b8a71300e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g33b8a71300e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 name="Google Shape;40;g33b8a71300e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3b8a71300e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g33b8a71300e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Brand Loyalty – built a strong customer base through personalized experiences, an extensive rewards program, and a high level of customer engagement. </a:t>
            </a:r>
            <a:endParaRPr>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Competitive &amp; Strategic Insights give Starbucks an edge over its rivals – expanding globally, and optimizing its supply chain efficiency</a:t>
            </a:r>
            <a:endParaRPr/>
          </a:p>
        </p:txBody>
      </p:sp>
      <p:sp>
        <p:nvSpPr>
          <p:cNvPr id="50" name="Google Shape;50;g33b8a71300e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8a71300e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3b8a71300e_0_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t>and also why are we analyzing reviews, according to the research by the harvard business school when thet are research for the yelp dataset. its shows that when there is a one star increase in yelp rating, there would </a:t>
            </a:r>
            <a:r>
              <a:rPr lang="en-US"/>
              <a:t>lead about 5-9 % in revenue, so reviews matter.</a:t>
            </a:r>
            <a:endParaRPr/>
          </a:p>
        </p:txBody>
      </p:sp>
      <p:sp>
        <p:nvSpPr>
          <p:cNvPr id="59" name="Google Shape;59;g33b8a71300e_0_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b8a71300e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g33b8a71300e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000">
                <a:solidFill>
                  <a:srgbClr val="0E0E0E"/>
                </a:solidFill>
                <a:latin typeface="Arial"/>
                <a:ea typeface="Arial"/>
                <a:cs typeface="Arial"/>
                <a:sym typeface="Arial"/>
              </a:rPr>
              <a:t>Help Starbucks better understand their customers across the United States</a:t>
            </a:r>
            <a:endParaRPr sz="1000">
              <a:solidFill>
                <a:srgbClr val="0E0E0E"/>
              </a:solidFill>
            </a:endParaRPr>
          </a:p>
        </p:txBody>
      </p:sp>
      <p:sp>
        <p:nvSpPr>
          <p:cNvPr id="70" name="Google Shape;70;g33b8a71300e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b9ec0942d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g33b9ec0942d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50">
                <a:latin typeface="Arial"/>
                <a:ea typeface="Arial"/>
                <a:cs typeface="Arial"/>
                <a:sym typeface="Arial"/>
              </a:rPr>
              <a:t>To prepare our data, we did an inner join of the business and review json files that included all records that had coffee or cafe in their category. This put the total number of records at about 600,000. To make our analysis more feasible given the time and resources we have, we pivoted to focusing on analyzing Starbucks reviews rather than reviews for all coffee shops. Focusing on just Starbucks puts the total record count at around 20,000.</a:t>
            </a:r>
            <a:endParaRPr/>
          </a:p>
        </p:txBody>
      </p:sp>
      <p:sp>
        <p:nvSpPr>
          <p:cNvPr id="77" name="Google Shape;77;g33b9ec0942d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c0001f0a5_4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3c0001f0a5_4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g33c0001f0a5_4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c0001f0a5_4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3c0001f0a5_4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3c0001f0a5_4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c0001f0a5_4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g33c0001f0a5_4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g33c0001f0a5_4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c0001f0a5_4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3c0001f0a5_4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g33c0001f0a5_4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3c0001f0a5_4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3c0001f0a5_4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33c0001f0a5_4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b9ec0942d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3b9ec0942d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g33b9ec0942d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3c188f9144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3c188f9144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g33c188f9144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b9ec0942d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3b9ec0942d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g33b9ec0942d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3b9ec0942d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g33b9ec0942d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3b9ec0942d_0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b9ec0942d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3b9ec0942d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3b9ec0942d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c0001f0a5_4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3c0001f0a5_4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3c0001f0a5_4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c223471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3c2234718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3c2234718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3c0001f0a5_4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3c0001f0a5_4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3c0001f0a5_4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b9ec0942d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3b9ec0942d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g33b9ec0942d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3b9ec0942d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3b9ec0942d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3b9ec0942d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3b9ec0942d_0_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3b9ec0942d_0_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3b9ec0942d_0_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b9ec0942d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3b9ec0942d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g33b9ec0942d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3c0001f0a5_4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3c0001f0a5_4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33c0001f0a5_4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5" name="Shape 15"/>
        <p:cNvGrpSpPr/>
        <p:nvPr/>
      </p:nvGrpSpPr>
      <p:grpSpPr>
        <a:xfrm>
          <a:off x="0" y="0"/>
          <a:ext cx="0" cy="0"/>
          <a:chOff x="0" y="0"/>
          <a:chExt cx="0" cy="0"/>
        </a:xfrm>
      </p:grpSpPr>
      <p:sp>
        <p:nvSpPr>
          <p:cNvPr id="16" name="Google Shape;16;g33b8a71300e_0_16"/>
          <p:cNvSpPr/>
          <p:nvPr/>
        </p:nvSpPr>
        <p:spPr>
          <a:xfrm>
            <a:off x="3030163" y="633950"/>
            <a:ext cx="18326700" cy="8576400"/>
          </a:xfrm>
          <a:prstGeom prst="roundRect">
            <a:avLst>
              <a:gd fmla="val 16667" name="adj"/>
            </a:avLst>
          </a:prstGeom>
          <a:solidFill>
            <a:srgbClr val="00704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g33b8a71300e_0_16"/>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3b8a71300e_0_16"/>
          <p:cNvSpPr/>
          <p:nvPr/>
        </p:nvSpPr>
        <p:spPr>
          <a:xfrm>
            <a:off x="4496725" y="9591350"/>
            <a:ext cx="15393600" cy="1809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lang="en-US" sz="10000">
                <a:solidFill>
                  <a:srgbClr val="007042"/>
                </a:solidFill>
                <a:latin typeface="Red Hat Display Black"/>
                <a:ea typeface="Red Hat Display Black"/>
                <a:cs typeface="Red Hat Display Black"/>
                <a:sym typeface="Red Hat Display Black"/>
              </a:rPr>
              <a:t>Team 208</a:t>
            </a:r>
            <a:endParaRPr sz="10000">
              <a:solidFill>
                <a:srgbClr val="007042"/>
              </a:solidFill>
              <a:latin typeface="Red Hat Display Black"/>
              <a:ea typeface="Red Hat Display Black"/>
              <a:cs typeface="Red Hat Display Black"/>
              <a:sym typeface="Red Hat Display Black"/>
            </a:endParaRPr>
          </a:p>
          <a:p>
            <a:pPr indent="0" lvl="0" marL="0" marR="0" rtl="0" algn="ctr">
              <a:lnSpc>
                <a:spcPct val="100000"/>
              </a:lnSpc>
              <a:spcBef>
                <a:spcPts val="0"/>
              </a:spcBef>
              <a:spcAft>
                <a:spcPts val="0"/>
              </a:spcAft>
              <a:buClr>
                <a:srgbClr val="007042"/>
              </a:buClr>
              <a:buSzPts val="12800"/>
              <a:buFont typeface="Red Hat Display Black"/>
              <a:buNone/>
            </a:pPr>
            <a:r>
              <a:t/>
            </a:r>
            <a:endParaRPr sz="10000">
              <a:solidFill>
                <a:srgbClr val="007042"/>
              </a:solidFill>
              <a:latin typeface="Red Hat Display Black"/>
              <a:ea typeface="Red Hat Display Black"/>
              <a:cs typeface="Red Hat Display Black"/>
              <a:sym typeface="Red Hat Display Black"/>
            </a:endParaRPr>
          </a:p>
        </p:txBody>
      </p:sp>
      <p:sp>
        <p:nvSpPr>
          <p:cNvPr id="19" name="Google Shape;19;g33b8a71300e_0_16"/>
          <p:cNvSpPr txBox="1"/>
          <p:nvPr/>
        </p:nvSpPr>
        <p:spPr>
          <a:xfrm>
            <a:off x="767563" y="11646650"/>
            <a:ext cx="22851900" cy="149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800">
                <a:solidFill>
                  <a:srgbClr val="007042"/>
                </a:solidFill>
              </a:rPr>
              <a:t>Kuan Ling Chen, Daniel Farr, Koushika Ravikumar, Shristi Gaur</a:t>
            </a:r>
            <a:endParaRPr b="1" sz="4800">
              <a:solidFill>
                <a:srgbClr val="007042"/>
              </a:solidFill>
            </a:endParaRPr>
          </a:p>
        </p:txBody>
      </p:sp>
      <p:pic>
        <p:nvPicPr>
          <p:cNvPr descr=" " id="20" name="Google Shape;20;g33b8a71300e_0_16"/>
          <p:cNvPicPr preferRelativeResize="0"/>
          <p:nvPr/>
        </p:nvPicPr>
        <p:blipFill rotWithShape="1">
          <a:blip r:embed="rId3">
            <a:alphaModFix/>
          </a:blip>
          <a:srcRect b="0" l="0" r="0" t="0"/>
          <a:stretch/>
        </p:blipFill>
        <p:spPr>
          <a:xfrm>
            <a:off x="18383750" y="518675"/>
            <a:ext cx="4377575" cy="8162801"/>
          </a:xfrm>
          <a:prstGeom prst="rect">
            <a:avLst/>
          </a:prstGeom>
          <a:noFill/>
          <a:ln>
            <a:noFill/>
          </a:ln>
        </p:spPr>
      </p:pic>
      <p:sp>
        <p:nvSpPr>
          <p:cNvPr id="21" name="Google Shape;21;g33b8a71300e_0_16"/>
          <p:cNvSpPr/>
          <p:nvPr/>
        </p:nvSpPr>
        <p:spPr>
          <a:xfrm>
            <a:off x="3896963" y="2224100"/>
            <a:ext cx="15393600" cy="508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lang="en-US" sz="15000">
                <a:solidFill>
                  <a:schemeClr val="lt1"/>
                </a:solidFill>
                <a:latin typeface="Red Hat Display Black"/>
                <a:ea typeface="Red Hat Display Black"/>
                <a:cs typeface="Red Hat Display Black"/>
                <a:sym typeface="Red Hat Display Black"/>
              </a:rPr>
              <a:t>Starbucks</a:t>
            </a:r>
            <a:endParaRPr sz="15000">
              <a:solidFill>
                <a:schemeClr val="lt1"/>
              </a:solidFill>
              <a:latin typeface="Red Hat Display Black"/>
              <a:ea typeface="Red Hat Display Black"/>
              <a:cs typeface="Red Hat Display Black"/>
              <a:sym typeface="Red Hat Display Black"/>
            </a:endParaRPr>
          </a:p>
          <a:p>
            <a:pPr indent="0" lvl="0" marL="0" marR="0" rtl="0" algn="ctr">
              <a:lnSpc>
                <a:spcPct val="50000"/>
              </a:lnSpc>
              <a:spcBef>
                <a:spcPts val="0"/>
              </a:spcBef>
              <a:spcAft>
                <a:spcPts val="0"/>
              </a:spcAft>
              <a:buClr>
                <a:srgbClr val="007042"/>
              </a:buClr>
              <a:buSzPts val="12800"/>
              <a:buFont typeface="Red Hat Display Black"/>
              <a:buNone/>
            </a:pPr>
            <a:r>
              <a:t/>
            </a:r>
            <a:endParaRPr sz="12000">
              <a:solidFill>
                <a:schemeClr val="lt1"/>
              </a:solidFill>
              <a:latin typeface="Red Hat Display Black"/>
              <a:ea typeface="Red Hat Display Black"/>
              <a:cs typeface="Red Hat Display Black"/>
              <a:sym typeface="Red Hat Display Black"/>
            </a:endParaRPr>
          </a:p>
          <a:p>
            <a:pPr indent="0" lvl="0" marL="0" marR="0" rtl="0" algn="ctr">
              <a:lnSpc>
                <a:spcPct val="100000"/>
              </a:lnSpc>
              <a:spcBef>
                <a:spcPts val="0"/>
              </a:spcBef>
              <a:spcAft>
                <a:spcPts val="0"/>
              </a:spcAft>
              <a:buClr>
                <a:srgbClr val="007042"/>
              </a:buClr>
              <a:buSzPts val="12800"/>
              <a:buFont typeface="Red Hat Display Black"/>
              <a:buNone/>
            </a:pPr>
            <a:r>
              <a:rPr lang="en-US" sz="7500">
                <a:solidFill>
                  <a:schemeClr val="lt1"/>
                </a:solidFill>
                <a:latin typeface="Red Hat Display Black"/>
                <a:ea typeface="Red Hat Display Black"/>
                <a:cs typeface="Red Hat Display Black"/>
                <a:sym typeface="Red Hat Display Black"/>
              </a:rPr>
              <a:t>Elevating the Customer Experience Across the US</a:t>
            </a:r>
            <a:endParaRPr sz="7500">
              <a:solidFill>
                <a:schemeClr val="lt1"/>
              </a:solidFill>
              <a:latin typeface="Red Hat Display Black"/>
              <a:ea typeface="Red Hat Display Black"/>
              <a:cs typeface="Red Hat Display Black"/>
              <a:sym typeface="Red Hat Display Black"/>
            </a:endParaRPr>
          </a:p>
          <a:p>
            <a:pPr indent="0" lvl="0" marL="0" marR="0" rtl="0" algn="ctr">
              <a:lnSpc>
                <a:spcPct val="100000"/>
              </a:lnSpc>
              <a:spcBef>
                <a:spcPts val="0"/>
              </a:spcBef>
              <a:spcAft>
                <a:spcPts val="0"/>
              </a:spcAft>
              <a:buClr>
                <a:srgbClr val="007042"/>
              </a:buClr>
              <a:buSzPts val="12800"/>
              <a:buFont typeface="Red Hat Display Black"/>
              <a:buNone/>
            </a:pPr>
            <a:r>
              <a:t/>
            </a:r>
            <a:endParaRPr sz="10000">
              <a:solidFill>
                <a:srgbClr val="007042"/>
              </a:solidFill>
              <a:latin typeface="Red Hat Display Black"/>
              <a:ea typeface="Red Hat Display Black"/>
              <a:cs typeface="Red Hat Display Black"/>
              <a:sym typeface="Red Hat Display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6" name="Shape 26"/>
        <p:cNvGrpSpPr/>
        <p:nvPr/>
      </p:nvGrpSpPr>
      <p:grpSpPr>
        <a:xfrm>
          <a:off x="0" y="0"/>
          <a:ext cx="0" cy="0"/>
          <a:chOff x="0" y="0"/>
          <a:chExt cx="0" cy="0"/>
        </a:xfrm>
      </p:grpSpPr>
      <p:sp>
        <p:nvSpPr>
          <p:cNvPr id="27" name="Google Shape;27;g33b8a71300e_0_26"/>
          <p:cNvSpPr/>
          <p:nvPr/>
        </p:nvSpPr>
        <p:spPr>
          <a:xfrm>
            <a:off x="2955575" y="830325"/>
            <a:ext cx="64746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9800">
                <a:solidFill>
                  <a:srgbClr val="007042"/>
                </a:solidFill>
                <a:latin typeface="Red Hat Display Black"/>
                <a:ea typeface="Red Hat Display Black"/>
                <a:cs typeface="Red Hat Display Black"/>
                <a:sym typeface="Red Hat Display Black"/>
              </a:rPr>
              <a:t>Agenda</a:t>
            </a:r>
            <a:endParaRPr sz="98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28" name="Google Shape;28;g33b8a71300e_0_26"/>
          <p:cNvSpPr txBox="1"/>
          <p:nvPr/>
        </p:nvSpPr>
        <p:spPr>
          <a:xfrm>
            <a:off x="2560000" y="3597250"/>
            <a:ext cx="11474100" cy="9405300"/>
          </a:xfrm>
          <a:prstGeom prst="rect">
            <a:avLst/>
          </a:prstGeom>
          <a:noFill/>
          <a:ln>
            <a:noFill/>
          </a:ln>
        </p:spPr>
        <p:txBody>
          <a:bodyPr anchorCtr="0" anchor="t" bIns="91425" lIns="91425" spcFirstLastPara="1" rIns="91425" wrap="square" tIns="91425">
            <a:noAutofit/>
          </a:bodyPr>
          <a:lstStyle/>
          <a:p>
            <a:pPr indent="-685800" lvl="0" marL="457200" rtl="0" algn="l">
              <a:spcBef>
                <a:spcPts val="0"/>
              </a:spcBef>
              <a:spcAft>
                <a:spcPts val="0"/>
              </a:spcAft>
              <a:buClr>
                <a:srgbClr val="007042"/>
              </a:buClr>
              <a:buSzPts val="7200"/>
              <a:buFont typeface="Red Hat Display Black"/>
              <a:buChar char="●"/>
            </a:pPr>
            <a:r>
              <a:rPr lang="en-US" sz="7200">
                <a:solidFill>
                  <a:srgbClr val="007042"/>
                </a:solidFill>
                <a:latin typeface="Red Hat Display Black"/>
                <a:ea typeface="Red Hat Display Black"/>
                <a:cs typeface="Red Hat Display Black"/>
                <a:sym typeface="Red Hat Display Black"/>
              </a:rPr>
              <a:t>Introduction</a:t>
            </a:r>
            <a:endParaRPr sz="7200">
              <a:solidFill>
                <a:srgbClr val="007042"/>
              </a:solidFill>
              <a:latin typeface="Red Hat Display Black"/>
              <a:ea typeface="Red Hat Display Black"/>
              <a:cs typeface="Red Hat Display Black"/>
              <a:sym typeface="Red Hat Display Black"/>
            </a:endParaRPr>
          </a:p>
          <a:p>
            <a:pPr indent="0" lvl="0" marL="457200" rtl="0" algn="l">
              <a:spcBef>
                <a:spcPts val="0"/>
              </a:spcBef>
              <a:spcAft>
                <a:spcPts val="0"/>
              </a:spcAft>
              <a:buNone/>
            </a:pPr>
            <a:r>
              <a:t/>
            </a:r>
            <a:endParaRPr sz="7200">
              <a:solidFill>
                <a:srgbClr val="007042"/>
              </a:solidFill>
              <a:latin typeface="Red Hat Display Black"/>
              <a:ea typeface="Red Hat Display Black"/>
              <a:cs typeface="Red Hat Display Black"/>
              <a:sym typeface="Red Hat Display Black"/>
            </a:endParaRPr>
          </a:p>
          <a:p>
            <a:pPr indent="-685800" lvl="0" marL="457200" rtl="0" algn="l">
              <a:spcBef>
                <a:spcPts val="0"/>
              </a:spcBef>
              <a:spcAft>
                <a:spcPts val="0"/>
              </a:spcAft>
              <a:buClr>
                <a:srgbClr val="007042"/>
              </a:buClr>
              <a:buSzPts val="7200"/>
              <a:buFont typeface="Red Hat Display Black"/>
              <a:buChar char="●"/>
            </a:pPr>
            <a:r>
              <a:rPr lang="en-US" sz="7200">
                <a:solidFill>
                  <a:srgbClr val="007042"/>
                </a:solidFill>
                <a:latin typeface="Red Hat Display Black"/>
                <a:ea typeface="Red Hat Display Black"/>
                <a:cs typeface="Red Hat Display Black"/>
                <a:sym typeface="Red Hat Display Black"/>
              </a:rPr>
              <a:t>Analytics</a:t>
            </a:r>
            <a:endParaRPr sz="7200">
              <a:solidFill>
                <a:srgbClr val="007042"/>
              </a:solidFill>
              <a:latin typeface="Red Hat Display Black"/>
              <a:ea typeface="Red Hat Display Black"/>
              <a:cs typeface="Red Hat Display Black"/>
              <a:sym typeface="Red Hat Display Black"/>
            </a:endParaRPr>
          </a:p>
          <a:p>
            <a:pPr indent="0" lvl="0" marL="457200" rtl="0" algn="l">
              <a:spcBef>
                <a:spcPts val="0"/>
              </a:spcBef>
              <a:spcAft>
                <a:spcPts val="0"/>
              </a:spcAft>
              <a:buNone/>
            </a:pPr>
            <a:r>
              <a:t/>
            </a:r>
            <a:endParaRPr sz="7200">
              <a:solidFill>
                <a:srgbClr val="007042"/>
              </a:solidFill>
              <a:latin typeface="Red Hat Display Black"/>
              <a:ea typeface="Red Hat Display Black"/>
              <a:cs typeface="Red Hat Display Black"/>
              <a:sym typeface="Red Hat Display Black"/>
            </a:endParaRPr>
          </a:p>
          <a:p>
            <a:pPr indent="-685800" lvl="0" marL="457200" rtl="0" algn="l">
              <a:spcBef>
                <a:spcPts val="0"/>
              </a:spcBef>
              <a:spcAft>
                <a:spcPts val="0"/>
              </a:spcAft>
              <a:buClr>
                <a:srgbClr val="007042"/>
              </a:buClr>
              <a:buSzPts val="7200"/>
              <a:buFont typeface="Red Hat Display Black"/>
              <a:buChar char="●"/>
            </a:pPr>
            <a:r>
              <a:rPr lang="en-US" sz="7200">
                <a:solidFill>
                  <a:srgbClr val="007042"/>
                </a:solidFill>
                <a:latin typeface="Red Hat Display Black"/>
                <a:ea typeface="Red Hat Display Black"/>
                <a:cs typeface="Red Hat Display Black"/>
                <a:sym typeface="Red Hat Display Black"/>
              </a:rPr>
              <a:t>Recommendations</a:t>
            </a:r>
            <a:endParaRPr sz="7200">
              <a:solidFill>
                <a:srgbClr val="007042"/>
              </a:solidFill>
              <a:latin typeface="Red Hat Display Black"/>
              <a:ea typeface="Red Hat Display Black"/>
              <a:cs typeface="Red Hat Display Black"/>
              <a:sym typeface="Red Hat Display Black"/>
            </a:endParaRPr>
          </a:p>
          <a:p>
            <a:pPr indent="0" lvl="0" marL="457200" rtl="0" algn="l">
              <a:spcBef>
                <a:spcPts val="0"/>
              </a:spcBef>
              <a:spcAft>
                <a:spcPts val="0"/>
              </a:spcAft>
              <a:buNone/>
            </a:pPr>
            <a:r>
              <a:t/>
            </a:r>
            <a:endParaRPr sz="7200">
              <a:solidFill>
                <a:srgbClr val="007042"/>
              </a:solidFill>
              <a:latin typeface="Red Hat Display Black"/>
              <a:ea typeface="Red Hat Display Black"/>
              <a:cs typeface="Red Hat Display Black"/>
              <a:sym typeface="Red Hat Display Black"/>
            </a:endParaRPr>
          </a:p>
          <a:p>
            <a:pPr indent="-685800" lvl="0" marL="457200" rtl="0" algn="l">
              <a:spcBef>
                <a:spcPts val="0"/>
              </a:spcBef>
              <a:spcAft>
                <a:spcPts val="0"/>
              </a:spcAft>
              <a:buClr>
                <a:srgbClr val="007042"/>
              </a:buClr>
              <a:buSzPts val="7200"/>
              <a:buFont typeface="Red Hat Display Black"/>
              <a:buChar char="●"/>
            </a:pPr>
            <a:r>
              <a:rPr lang="en-US" sz="7200">
                <a:solidFill>
                  <a:srgbClr val="007042"/>
                </a:solidFill>
                <a:latin typeface="Red Hat Display Black"/>
                <a:ea typeface="Red Hat Display Black"/>
                <a:cs typeface="Red Hat Display Black"/>
                <a:sym typeface="Red Hat Display Black"/>
              </a:rPr>
              <a:t>Conclusion</a:t>
            </a:r>
            <a:endParaRPr sz="7200"/>
          </a:p>
        </p:txBody>
      </p:sp>
      <p:pic>
        <p:nvPicPr>
          <p:cNvPr descr=" " id="29" name="Google Shape;29;g33b8a71300e_0_26"/>
          <p:cNvPicPr preferRelativeResize="0"/>
          <p:nvPr/>
        </p:nvPicPr>
        <p:blipFill rotWithShape="1">
          <a:blip r:embed="rId3">
            <a:alphaModFix/>
          </a:blip>
          <a:srcRect b="0" l="0" r="0" t="0"/>
          <a:stretch/>
        </p:blipFill>
        <p:spPr>
          <a:xfrm>
            <a:off x="13545775" y="4329425"/>
            <a:ext cx="8468744" cy="618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4" name="Shape 34"/>
        <p:cNvGrpSpPr/>
        <p:nvPr/>
      </p:nvGrpSpPr>
      <p:grpSpPr>
        <a:xfrm>
          <a:off x="0" y="0"/>
          <a:ext cx="0" cy="0"/>
          <a:chOff x="0" y="0"/>
          <a:chExt cx="0" cy="0"/>
        </a:xfrm>
      </p:grpSpPr>
      <p:sp>
        <p:nvSpPr>
          <p:cNvPr id="35" name="Google Shape;35;g33b8a71300e_0_64"/>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33b8a71300e_0_64"/>
          <p:cNvSpPr/>
          <p:nvPr/>
        </p:nvSpPr>
        <p:spPr>
          <a:xfrm>
            <a:off x="3990450" y="5391150"/>
            <a:ext cx="16406100" cy="4217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lang="en-US" sz="15000">
                <a:solidFill>
                  <a:srgbClr val="007042"/>
                </a:solidFill>
                <a:latin typeface="Red Hat Display Black"/>
                <a:ea typeface="Red Hat Display Black"/>
                <a:cs typeface="Red Hat Display Black"/>
                <a:sym typeface="Red Hat Display Black"/>
              </a:rPr>
              <a:t>Why Starbucks?</a:t>
            </a:r>
            <a:endParaRPr sz="150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 name="Shape 41"/>
        <p:cNvGrpSpPr/>
        <p:nvPr/>
      </p:nvGrpSpPr>
      <p:grpSpPr>
        <a:xfrm>
          <a:off x="0" y="0"/>
          <a:ext cx="0" cy="0"/>
          <a:chOff x="0" y="0"/>
          <a:chExt cx="0" cy="0"/>
        </a:xfrm>
      </p:grpSpPr>
      <p:sp>
        <p:nvSpPr>
          <p:cNvPr id="42" name="Google Shape;42;g33b8a71300e_0_46"/>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3b8a71300e_0_46"/>
          <p:cNvSpPr/>
          <p:nvPr/>
        </p:nvSpPr>
        <p:spPr>
          <a:xfrm>
            <a:off x="1533350" y="7098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8000">
                <a:solidFill>
                  <a:srgbClr val="007042"/>
                </a:solidFill>
                <a:latin typeface="Red Hat Display Black"/>
                <a:ea typeface="Red Hat Display Black"/>
                <a:cs typeface="Red Hat Display Black"/>
                <a:sym typeface="Red Hat Display Black"/>
              </a:rPr>
              <a:t>I</a:t>
            </a:r>
            <a:r>
              <a:rPr lang="en-US" sz="8000">
                <a:solidFill>
                  <a:srgbClr val="007042"/>
                </a:solidFill>
                <a:latin typeface="Red Hat Display Black"/>
                <a:ea typeface="Red Hat Display Black"/>
                <a:cs typeface="Red Hat Display Black"/>
                <a:sym typeface="Red Hat Display Black"/>
              </a:rPr>
              <a:t>ntroduction</a:t>
            </a:r>
            <a:r>
              <a:rPr lang="en-US" sz="5200">
                <a:solidFill>
                  <a:srgbClr val="007042"/>
                </a:solidFill>
                <a:latin typeface="Red Hat Display Black"/>
                <a:ea typeface="Red Hat Display Black"/>
                <a:cs typeface="Red Hat Display Black"/>
                <a:sym typeface="Red Hat Display Black"/>
              </a:rPr>
              <a:t>- Starbucks Store distribution</a:t>
            </a:r>
            <a:endParaRPr sz="52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44" name="Google Shape;44;g33b8a71300e_0_46"/>
          <p:cNvPicPr preferRelativeResize="0"/>
          <p:nvPr/>
        </p:nvPicPr>
        <p:blipFill>
          <a:blip r:embed="rId3">
            <a:alphaModFix/>
          </a:blip>
          <a:stretch>
            <a:fillRect/>
          </a:stretch>
        </p:blipFill>
        <p:spPr>
          <a:xfrm>
            <a:off x="1436925" y="3914700"/>
            <a:ext cx="12919224" cy="7111125"/>
          </a:xfrm>
          <a:prstGeom prst="rect">
            <a:avLst/>
          </a:prstGeom>
          <a:noFill/>
          <a:ln>
            <a:noFill/>
          </a:ln>
        </p:spPr>
      </p:pic>
      <p:sp>
        <p:nvSpPr>
          <p:cNvPr id="45" name="Google Shape;45;g33b8a71300e_0_46"/>
          <p:cNvSpPr txBox="1"/>
          <p:nvPr/>
        </p:nvSpPr>
        <p:spPr>
          <a:xfrm>
            <a:off x="14781450" y="7168975"/>
            <a:ext cx="9425400" cy="2699700"/>
          </a:xfrm>
          <a:prstGeom prst="rect">
            <a:avLst/>
          </a:prstGeom>
          <a:noFill/>
          <a:ln>
            <a:noFill/>
          </a:ln>
        </p:spPr>
        <p:txBody>
          <a:bodyPr anchorCtr="0" anchor="t" bIns="91425" lIns="91425" spcFirstLastPara="1" rIns="91425" wrap="square" tIns="91425">
            <a:noAutofit/>
          </a:bodyPr>
          <a:lstStyle/>
          <a:p>
            <a:pPr indent="0" lvl="0" marL="0" rtl="0" algn="ctr">
              <a:lnSpc>
                <a:spcPct val="84782"/>
              </a:lnSpc>
              <a:spcBef>
                <a:spcPts val="0"/>
              </a:spcBef>
              <a:spcAft>
                <a:spcPts val="0"/>
              </a:spcAft>
              <a:buNone/>
            </a:pPr>
            <a:r>
              <a:t/>
            </a:r>
            <a:endParaRPr sz="2900">
              <a:solidFill>
                <a:schemeClr val="dk1"/>
              </a:solidFill>
            </a:endParaRPr>
          </a:p>
          <a:p>
            <a:pPr indent="0" lvl="0" marL="0" rtl="0" algn="ctr">
              <a:lnSpc>
                <a:spcPct val="84782"/>
              </a:lnSpc>
              <a:spcBef>
                <a:spcPts val="0"/>
              </a:spcBef>
              <a:spcAft>
                <a:spcPts val="0"/>
              </a:spcAft>
              <a:buNone/>
            </a:pPr>
            <a:r>
              <a:t/>
            </a:r>
            <a:endParaRPr sz="2900">
              <a:solidFill>
                <a:schemeClr val="dk1"/>
              </a:solidFill>
            </a:endParaRPr>
          </a:p>
          <a:p>
            <a:pPr indent="0" lvl="0" marL="0" rtl="0" algn="ctr">
              <a:lnSpc>
                <a:spcPct val="84782"/>
              </a:lnSpc>
              <a:spcBef>
                <a:spcPts val="0"/>
              </a:spcBef>
              <a:spcAft>
                <a:spcPts val="0"/>
              </a:spcAft>
              <a:buNone/>
            </a:pPr>
            <a:r>
              <a:rPr lang="en-US" sz="3000">
                <a:solidFill>
                  <a:srgbClr val="007042"/>
                </a:solidFill>
              </a:rPr>
              <a:t>2024 Starbucks Store Distribution and Count in the US</a:t>
            </a:r>
            <a:endParaRPr sz="3000">
              <a:solidFill>
                <a:srgbClr val="007042"/>
              </a:solidFill>
            </a:endParaRPr>
          </a:p>
          <a:p>
            <a:pPr indent="0" lvl="0" marL="0" rtl="0" algn="l">
              <a:spcBef>
                <a:spcPts val="0"/>
              </a:spcBef>
              <a:spcAft>
                <a:spcPts val="0"/>
              </a:spcAft>
              <a:buNone/>
            </a:pPr>
            <a:r>
              <a:t/>
            </a:r>
            <a:endParaRPr/>
          </a:p>
        </p:txBody>
      </p:sp>
      <p:sp>
        <p:nvSpPr>
          <p:cNvPr id="46" name="Google Shape;46;g33b8a71300e_0_46"/>
          <p:cNvSpPr/>
          <p:nvPr/>
        </p:nvSpPr>
        <p:spPr>
          <a:xfrm>
            <a:off x="14669500" y="6487713"/>
            <a:ext cx="8837100" cy="268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lang="en-US" sz="9200">
                <a:solidFill>
                  <a:srgbClr val="007042"/>
                </a:solidFill>
                <a:latin typeface="Red Hat Display Black"/>
                <a:ea typeface="Red Hat Display Black"/>
                <a:cs typeface="Red Hat Display Black"/>
                <a:sym typeface="Red Hat Display Black"/>
              </a:rPr>
              <a:t>15,882</a:t>
            </a:r>
            <a:endParaRPr b="0" i="0" sz="9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51" name="Shape 51"/>
        <p:cNvGrpSpPr/>
        <p:nvPr/>
      </p:nvGrpSpPr>
      <p:grpSpPr>
        <a:xfrm>
          <a:off x="0" y="0"/>
          <a:ext cx="0" cy="0"/>
          <a:chOff x="0" y="0"/>
          <a:chExt cx="0" cy="0"/>
        </a:xfrm>
      </p:grpSpPr>
      <p:sp>
        <p:nvSpPr>
          <p:cNvPr id="52" name="Google Shape;52;g33b8a71300e_0_78"/>
          <p:cNvSpPr txBox="1"/>
          <p:nvPr/>
        </p:nvSpPr>
        <p:spPr>
          <a:xfrm>
            <a:off x="906025" y="4357125"/>
            <a:ext cx="14171100" cy="7935300"/>
          </a:xfrm>
          <a:prstGeom prst="rect">
            <a:avLst/>
          </a:prstGeom>
          <a:noFill/>
          <a:ln>
            <a:noFill/>
          </a:ln>
        </p:spPr>
        <p:txBody>
          <a:bodyPr anchorCtr="0" anchor="t" bIns="91425" lIns="91425" spcFirstLastPara="1" rIns="91425" wrap="square" tIns="91425">
            <a:noAutofit/>
          </a:bodyPr>
          <a:lstStyle/>
          <a:p>
            <a:pPr indent="-615950" lvl="0" marL="457200" rtl="0" algn="l">
              <a:spcBef>
                <a:spcPts val="0"/>
              </a:spcBef>
              <a:spcAft>
                <a:spcPts val="0"/>
              </a:spcAft>
              <a:buClr>
                <a:srgbClr val="007042"/>
              </a:buClr>
              <a:buSzPts val="6100"/>
              <a:buFont typeface="Red Hat Display Black"/>
              <a:buAutoNum type="arabicPeriod"/>
            </a:pPr>
            <a:r>
              <a:rPr lang="en-US" sz="6100">
                <a:solidFill>
                  <a:srgbClr val="007042"/>
                </a:solidFill>
                <a:latin typeface="Red Hat Display Black"/>
                <a:ea typeface="Red Hat Display Black"/>
                <a:cs typeface="Red Hat Display Black"/>
                <a:sym typeface="Red Hat Display Black"/>
              </a:rPr>
              <a:t>Global Market Leader - </a:t>
            </a:r>
            <a:endParaRPr sz="6100">
              <a:solidFill>
                <a:srgbClr val="007042"/>
              </a:solidFill>
              <a:latin typeface="Red Hat Display Black"/>
              <a:ea typeface="Red Hat Display Black"/>
              <a:cs typeface="Red Hat Display Black"/>
              <a:sym typeface="Red Hat Display Black"/>
            </a:endParaRPr>
          </a:p>
          <a:p>
            <a:pPr indent="0" lvl="0" marL="457200" rtl="0" algn="l">
              <a:spcBef>
                <a:spcPts val="0"/>
              </a:spcBef>
              <a:spcAft>
                <a:spcPts val="0"/>
              </a:spcAft>
              <a:buNone/>
            </a:pPr>
            <a:r>
              <a:rPr lang="en-US" sz="5000">
                <a:solidFill>
                  <a:srgbClr val="007042"/>
                </a:solidFill>
                <a:latin typeface="Red Hat Display Black"/>
                <a:ea typeface="Red Hat Display Black"/>
                <a:cs typeface="Red Hat Display Black"/>
                <a:sym typeface="Red Hat Display Black"/>
              </a:rPr>
              <a:t>Global Market Size: ~$495 billion (2023)</a:t>
            </a:r>
            <a:endParaRPr sz="5000">
              <a:solidFill>
                <a:srgbClr val="007042"/>
              </a:solidFill>
              <a:latin typeface="Red Hat Display Black"/>
              <a:ea typeface="Red Hat Display Black"/>
              <a:cs typeface="Red Hat Display Black"/>
              <a:sym typeface="Red Hat Display Black"/>
            </a:endParaRPr>
          </a:p>
          <a:p>
            <a:pPr indent="0" lvl="0" marL="0" rtl="0" algn="l">
              <a:spcBef>
                <a:spcPts val="0"/>
              </a:spcBef>
              <a:spcAft>
                <a:spcPts val="0"/>
              </a:spcAft>
              <a:buNone/>
            </a:pPr>
            <a:r>
              <a:t/>
            </a:r>
            <a:endParaRPr sz="6100">
              <a:solidFill>
                <a:srgbClr val="007042"/>
              </a:solidFill>
              <a:latin typeface="Red Hat Display Black"/>
              <a:ea typeface="Red Hat Display Black"/>
              <a:cs typeface="Red Hat Display Black"/>
              <a:sym typeface="Red Hat Display Black"/>
            </a:endParaRPr>
          </a:p>
          <a:p>
            <a:pPr indent="-615950" lvl="0" marL="457200" rtl="0" algn="l">
              <a:spcBef>
                <a:spcPts val="0"/>
              </a:spcBef>
              <a:spcAft>
                <a:spcPts val="0"/>
              </a:spcAft>
              <a:buClr>
                <a:srgbClr val="007042"/>
              </a:buClr>
              <a:buSzPts val="6100"/>
              <a:buFont typeface="Red Hat Display Black"/>
              <a:buAutoNum type="arabicPeriod"/>
            </a:pPr>
            <a:r>
              <a:rPr lang="en-US" sz="6100">
                <a:solidFill>
                  <a:srgbClr val="007042"/>
                </a:solidFill>
                <a:latin typeface="Red Hat Display Black"/>
                <a:ea typeface="Red Hat Display Black"/>
                <a:cs typeface="Red Hat Display Black"/>
                <a:sym typeface="Red Hat Display Black"/>
              </a:rPr>
              <a:t>Brand Loyalty</a:t>
            </a:r>
            <a:endParaRPr sz="6100">
              <a:solidFill>
                <a:srgbClr val="007042"/>
              </a:solidFill>
              <a:latin typeface="Red Hat Display Black"/>
              <a:ea typeface="Red Hat Display Black"/>
              <a:cs typeface="Red Hat Display Black"/>
              <a:sym typeface="Red Hat Display Black"/>
            </a:endParaRPr>
          </a:p>
          <a:p>
            <a:pPr indent="0" lvl="0" marL="0" rtl="0" algn="l">
              <a:spcBef>
                <a:spcPts val="0"/>
              </a:spcBef>
              <a:spcAft>
                <a:spcPts val="0"/>
              </a:spcAft>
              <a:buNone/>
            </a:pPr>
            <a:r>
              <a:t/>
            </a:r>
            <a:endParaRPr sz="6100">
              <a:solidFill>
                <a:srgbClr val="007042"/>
              </a:solidFill>
              <a:latin typeface="Red Hat Display Black"/>
              <a:ea typeface="Red Hat Display Black"/>
              <a:cs typeface="Red Hat Display Black"/>
              <a:sym typeface="Red Hat Display Black"/>
            </a:endParaRPr>
          </a:p>
          <a:p>
            <a:pPr indent="-615950" lvl="0" marL="457200" rtl="0" algn="l">
              <a:spcBef>
                <a:spcPts val="0"/>
              </a:spcBef>
              <a:spcAft>
                <a:spcPts val="0"/>
              </a:spcAft>
              <a:buClr>
                <a:srgbClr val="007042"/>
              </a:buClr>
              <a:buSzPts val="6100"/>
              <a:buFont typeface="Red Hat Display Black"/>
              <a:buAutoNum type="arabicPeriod"/>
            </a:pPr>
            <a:r>
              <a:rPr lang="en-US" sz="6100">
                <a:solidFill>
                  <a:srgbClr val="007042"/>
                </a:solidFill>
                <a:latin typeface="Red Hat Display Black"/>
                <a:ea typeface="Red Hat Display Black"/>
                <a:cs typeface="Red Hat Display Black"/>
                <a:sym typeface="Red Hat Display Black"/>
              </a:rPr>
              <a:t>Competitive &amp; Strategic Insights</a:t>
            </a:r>
            <a:endParaRPr sz="6700">
              <a:solidFill>
                <a:srgbClr val="007042"/>
              </a:solidFill>
              <a:latin typeface="Red Hat Display Black"/>
              <a:ea typeface="Red Hat Display Black"/>
              <a:cs typeface="Red Hat Display Black"/>
              <a:sym typeface="Red Hat Display Black"/>
            </a:endParaRPr>
          </a:p>
          <a:p>
            <a:pPr indent="0" lvl="0" marL="0" rtl="0" algn="l">
              <a:spcBef>
                <a:spcPts val="0"/>
              </a:spcBef>
              <a:spcAft>
                <a:spcPts val="0"/>
              </a:spcAft>
              <a:buNone/>
            </a:pPr>
            <a:r>
              <a:t/>
            </a:r>
            <a:endParaRPr sz="6700">
              <a:solidFill>
                <a:srgbClr val="007042"/>
              </a:solidFill>
              <a:latin typeface="Red Hat Display Black"/>
              <a:ea typeface="Red Hat Display Black"/>
              <a:cs typeface="Red Hat Display Black"/>
              <a:sym typeface="Red Hat Display Black"/>
            </a:endParaRPr>
          </a:p>
        </p:txBody>
      </p:sp>
      <p:sp>
        <p:nvSpPr>
          <p:cNvPr id="53" name="Google Shape;53;g33b8a71300e_0_78"/>
          <p:cNvSpPr/>
          <p:nvPr/>
        </p:nvSpPr>
        <p:spPr>
          <a:xfrm>
            <a:off x="1091900" y="637400"/>
            <a:ext cx="19788000" cy="143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8000">
                <a:solidFill>
                  <a:srgbClr val="007042"/>
                </a:solidFill>
                <a:latin typeface="Red Hat Display Black"/>
                <a:ea typeface="Red Hat Display Black"/>
                <a:cs typeface="Red Hat Display Black"/>
                <a:sym typeface="Red Hat Display Black"/>
              </a:rPr>
              <a:t>Introduction</a:t>
            </a:r>
            <a:r>
              <a:rPr lang="en-US" sz="5200">
                <a:solidFill>
                  <a:srgbClr val="007042"/>
                </a:solidFill>
                <a:latin typeface="Red Hat Display Black"/>
                <a:ea typeface="Red Hat Display Black"/>
                <a:cs typeface="Red Hat Display Black"/>
                <a:sym typeface="Red Hat Display Black"/>
              </a:rPr>
              <a:t>- Key Reasons for Analyzing Starbucks</a:t>
            </a:r>
            <a:endParaRPr sz="52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54" name="Google Shape;54;g33b8a71300e_0_78"/>
          <p:cNvPicPr preferRelativeResize="0"/>
          <p:nvPr/>
        </p:nvPicPr>
        <p:blipFill>
          <a:blip r:embed="rId3">
            <a:alphaModFix/>
          </a:blip>
          <a:stretch>
            <a:fillRect/>
          </a:stretch>
        </p:blipFill>
        <p:spPr>
          <a:xfrm>
            <a:off x="14577625" y="3608950"/>
            <a:ext cx="9151101" cy="7754674"/>
          </a:xfrm>
          <a:prstGeom prst="rect">
            <a:avLst/>
          </a:prstGeom>
          <a:noFill/>
          <a:ln>
            <a:noFill/>
          </a:ln>
        </p:spPr>
      </p:pic>
      <p:sp>
        <p:nvSpPr>
          <p:cNvPr id="55" name="Google Shape;55;g33b8a71300e_0_78"/>
          <p:cNvSpPr txBox="1"/>
          <p:nvPr/>
        </p:nvSpPr>
        <p:spPr>
          <a:xfrm>
            <a:off x="14734075" y="2795150"/>
            <a:ext cx="9151200" cy="8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07042"/>
                </a:solidFill>
              </a:rPr>
              <a:t>Coffee chain market share percentage</a:t>
            </a:r>
            <a:endParaRPr sz="3800">
              <a:solidFill>
                <a:srgbClr val="00704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60" name="Shape 60"/>
        <p:cNvGrpSpPr/>
        <p:nvPr/>
      </p:nvGrpSpPr>
      <p:grpSpPr>
        <a:xfrm>
          <a:off x="0" y="0"/>
          <a:ext cx="0" cy="0"/>
          <a:chOff x="0" y="0"/>
          <a:chExt cx="0" cy="0"/>
        </a:xfrm>
      </p:grpSpPr>
      <p:sp>
        <p:nvSpPr>
          <p:cNvPr id="61" name="Google Shape;61;g33b8a71300e_0_92"/>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3b8a71300e_0_92"/>
          <p:cNvSpPr/>
          <p:nvPr/>
        </p:nvSpPr>
        <p:spPr>
          <a:xfrm>
            <a:off x="1863875" y="7649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7600">
                <a:solidFill>
                  <a:srgbClr val="007042"/>
                </a:solidFill>
                <a:latin typeface="Red Hat Display Black"/>
                <a:ea typeface="Red Hat Display Black"/>
                <a:cs typeface="Red Hat Display Black"/>
                <a:sym typeface="Red Hat Display Black"/>
              </a:rPr>
              <a:t>Introduction</a:t>
            </a:r>
            <a:r>
              <a:rPr lang="en-US" sz="5200">
                <a:solidFill>
                  <a:srgbClr val="007042"/>
                </a:solidFill>
                <a:latin typeface="Red Hat Display Black"/>
                <a:ea typeface="Red Hat Display Black"/>
                <a:cs typeface="Red Hat Display Black"/>
                <a:sym typeface="Red Hat Display Black"/>
              </a:rPr>
              <a:t>-Why Analyzing Reviews Matters</a:t>
            </a:r>
            <a:endParaRPr sz="52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63" name="Google Shape;63;g33b8a71300e_0_92"/>
          <p:cNvSpPr txBox="1"/>
          <p:nvPr/>
        </p:nvSpPr>
        <p:spPr>
          <a:xfrm>
            <a:off x="1700563" y="5880650"/>
            <a:ext cx="14088600" cy="44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0"/>
              <a:t>A one-star increase in Yelp rating leads to a</a:t>
            </a:r>
            <a:r>
              <a:rPr lang="en-US" sz="8300"/>
              <a:t> </a:t>
            </a:r>
            <a:r>
              <a:rPr b="1" lang="en-US" sz="10900">
                <a:solidFill>
                  <a:srgbClr val="FF0000"/>
                </a:solidFill>
              </a:rPr>
              <a:t>5-9%</a:t>
            </a:r>
            <a:r>
              <a:rPr lang="en-US" sz="8300"/>
              <a:t> </a:t>
            </a:r>
            <a:r>
              <a:rPr lang="en-US" sz="7800"/>
              <a:t>increase in revenue</a:t>
            </a:r>
            <a:endParaRPr sz="7800"/>
          </a:p>
        </p:txBody>
      </p:sp>
      <p:pic>
        <p:nvPicPr>
          <p:cNvPr id="64" name="Google Shape;64;g33b8a71300e_0_92"/>
          <p:cNvPicPr preferRelativeResize="0"/>
          <p:nvPr/>
        </p:nvPicPr>
        <p:blipFill>
          <a:blip r:embed="rId3">
            <a:alphaModFix/>
          </a:blip>
          <a:stretch>
            <a:fillRect/>
          </a:stretch>
        </p:blipFill>
        <p:spPr>
          <a:xfrm>
            <a:off x="15968913" y="3970296"/>
            <a:ext cx="6717550" cy="6545304"/>
          </a:xfrm>
          <a:prstGeom prst="rect">
            <a:avLst/>
          </a:prstGeom>
          <a:noFill/>
          <a:ln>
            <a:noFill/>
          </a:ln>
        </p:spPr>
      </p:pic>
      <p:sp>
        <p:nvSpPr>
          <p:cNvPr id="65" name="Google Shape;65;g33b8a71300e_0_92"/>
          <p:cNvSpPr txBox="1"/>
          <p:nvPr/>
        </p:nvSpPr>
        <p:spPr>
          <a:xfrm>
            <a:off x="1700563" y="4218175"/>
            <a:ext cx="12173700" cy="22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6000">
                <a:solidFill>
                  <a:schemeClr val="dk1"/>
                </a:solidFill>
              </a:rPr>
              <a:t>Harvard Business School:</a:t>
            </a:r>
            <a:endParaRPr/>
          </a:p>
        </p:txBody>
      </p:sp>
      <p:sp>
        <p:nvSpPr>
          <p:cNvPr id="66" name="Google Shape;66;g33b8a71300e_0_92"/>
          <p:cNvSpPr txBox="1"/>
          <p:nvPr/>
        </p:nvSpPr>
        <p:spPr>
          <a:xfrm>
            <a:off x="9575900" y="13168500"/>
            <a:ext cx="15123300" cy="5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t>Data Source:</a:t>
            </a:r>
            <a:r>
              <a:rPr b="1" lang="en-US" sz="2400">
                <a:solidFill>
                  <a:schemeClr val="dk1"/>
                </a:solidFill>
                <a:latin typeface="Calibri"/>
                <a:ea typeface="Calibri"/>
                <a:cs typeface="Calibri"/>
                <a:sym typeface="Calibri"/>
              </a:rPr>
              <a:t>https://www.hbs.edu/ris/Publication%20Files/12-016_a7e4a5a2-03f9-490d-b093-8f951238dba2.pdf</a:t>
            </a:r>
            <a:endParaRPr b="1" sz="24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71" name="Shape 71"/>
        <p:cNvGrpSpPr/>
        <p:nvPr/>
      </p:nvGrpSpPr>
      <p:grpSpPr>
        <a:xfrm>
          <a:off x="0" y="0"/>
          <a:ext cx="0" cy="0"/>
          <a:chOff x="0" y="0"/>
          <a:chExt cx="0" cy="0"/>
        </a:xfrm>
      </p:grpSpPr>
      <p:sp>
        <p:nvSpPr>
          <p:cNvPr id="72" name="Google Shape;72;g33b8a71300e_0_104"/>
          <p:cNvSpPr/>
          <p:nvPr/>
        </p:nvSpPr>
        <p:spPr>
          <a:xfrm>
            <a:off x="1318675" y="7890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7600">
                <a:solidFill>
                  <a:srgbClr val="007042"/>
                </a:solidFill>
                <a:latin typeface="Red Hat Display Black"/>
                <a:ea typeface="Red Hat Display Black"/>
                <a:cs typeface="Red Hat Display Black"/>
                <a:sym typeface="Red Hat Display Black"/>
              </a:rPr>
              <a:t>Introduction</a:t>
            </a:r>
            <a:r>
              <a:rPr lang="en-US" sz="4800">
                <a:solidFill>
                  <a:srgbClr val="007042"/>
                </a:solidFill>
                <a:latin typeface="Red Hat Display Black"/>
                <a:ea typeface="Red Hat Display Black"/>
                <a:cs typeface="Red Hat Display Black"/>
                <a:sym typeface="Red Hat Display Black"/>
              </a:rPr>
              <a:t>-How We Analyze Starbucks' Customer Insights</a:t>
            </a:r>
            <a:endParaRPr sz="48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73" name="Google Shape;73;g33b8a71300e_0_104"/>
          <p:cNvSpPr txBox="1"/>
          <p:nvPr/>
        </p:nvSpPr>
        <p:spPr>
          <a:xfrm>
            <a:off x="1501200" y="3139175"/>
            <a:ext cx="20803500" cy="103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800">
                <a:solidFill>
                  <a:srgbClr val="007042"/>
                </a:solidFill>
              </a:rPr>
              <a:t>Objective:</a:t>
            </a:r>
            <a:endParaRPr b="1" sz="4800">
              <a:solidFill>
                <a:srgbClr val="007042"/>
              </a:solidFill>
            </a:endParaRPr>
          </a:p>
          <a:p>
            <a:pPr indent="0" lvl="0" marL="0" rtl="0" algn="l">
              <a:spcBef>
                <a:spcPts val="0"/>
              </a:spcBef>
              <a:spcAft>
                <a:spcPts val="0"/>
              </a:spcAft>
              <a:buClr>
                <a:schemeClr val="dk1"/>
              </a:buClr>
              <a:buSzPts val="1100"/>
              <a:buFont typeface="Arial"/>
              <a:buNone/>
            </a:pPr>
            <a:r>
              <a:t/>
            </a:r>
            <a:endParaRPr b="1" sz="5600">
              <a:solidFill>
                <a:srgbClr val="007042"/>
              </a:solidFill>
            </a:endParaRPr>
          </a:p>
          <a:p>
            <a:pPr indent="0" lvl="0" marL="0" rtl="0" algn="l">
              <a:spcBef>
                <a:spcPts val="0"/>
              </a:spcBef>
              <a:spcAft>
                <a:spcPts val="0"/>
              </a:spcAft>
              <a:buNone/>
            </a:pPr>
            <a:r>
              <a:rPr lang="en-US" sz="4400">
                <a:solidFill>
                  <a:schemeClr val="dk1"/>
                </a:solidFill>
              </a:rPr>
              <a:t>Help Starbucks better understand their customers across the United States.</a:t>
            </a:r>
            <a:endParaRPr sz="4400">
              <a:solidFill>
                <a:schemeClr val="dk1"/>
              </a:solidFill>
            </a:endParaRPr>
          </a:p>
          <a:p>
            <a:pPr indent="0" lvl="0" marL="0" rtl="0" algn="l">
              <a:spcBef>
                <a:spcPts val="0"/>
              </a:spcBef>
              <a:spcAft>
                <a:spcPts val="0"/>
              </a:spcAft>
              <a:buNone/>
            </a:pPr>
            <a:r>
              <a:t/>
            </a:r>
            <a:endParaRPr sz="4400">
              <a:solidFill>
                <a:schemeClr val="dk1"/>
              </a:solidFill>
            </a:endParaRPr>
          </a:p>
          <a:p>
            <a:pPr indent="0" lvl="0" marL="0" rtl="0" algn="l">
              <a:spcBef>
                <a:spcPts val="0"/>
              </a:spcBef>
              <a:spcAft>
                <a:spcPts val="0"/>
              </a:spcAft>
              <a:buClr>
                <a:schemeClr val="dk1"/>
              </a:buClr>
              <a:buSzPts val="1100"/>
              <a:buFont typeface="Arial"/>
              <a:buNone/>
            </a:pPr>
            <a:r>
              <a:rPr b="1" lang="en-US" sz="4800">
                <a:solidFill>
                  <a:srgbClr val="007042"/>
                </a:solidFill>
              </a:rPr>
              <a:t>Method:</a:t>
            </a:r>
            <a:endParaRPr b="1" sz="4800">
              <a:solidFill>
                <a:srgbClr val="007042"/>
              </a:solidFill>
            </a:endParaRPr>
          </a:p>
          <a:p>
            <a:pPr indent="0" lvl="0" marL="0" rtl="0" algn="l">
              <a:spcBef>
                <a:spcPts val="0"/>
              </a:spcBef>
              <a:spcAft>
                <a:spcPts val="0"/>
              </a:spcAft>
              <a:buClr>
                <a:schemeClr val="dk1"/>
              </a:buClr>
              <a:buSzPts val="1100"/>
              <a:buFont typeface="Arial"/>
              <a:buNone/>
            </a:pPr>
            <a:r>
              <a:t/>
            </a:r>
            <a:endParaRPr sz="4800">
              <a:solidFill>
                <a:schemeClr val="dk1"/>
              </a:solidFill>
            </a:endParaRPr>
          </a:p>
          <a:p>
            <a:pPr indent="0" lvl="0" marL="0" rtl="0" algn="l">
              <a:spcBef>
                <a:spcPts val="0"/>
              </a:spcBef>
              <a:spcAft>
                <a:spcPts val="0"/>
              </a:spcAft>
              <a:buNone/>
            </a:pPr>
            <a:r>
              <a:rPr lang="en-US" sz="4400">
                <a:solidFill>
                  <a:schemeClr val="dk1"/>
                </a:solidFill>
              </a:rPr>
              <a:t>Utilize </a:t>
            </a:r>
            <a:r>
              <a:rPr b="1" lang="en-US" sz="4400">
                <a:solidFill>
                  <a:schemeClr val="dk1"/>
                </a:solidFill>
              </a:rPr>
              <a:t>review scores and sentiment analysis</a:t>
            </a:r>
            <a:r>
              <a:rPr lang="en-US" sz="4400">
                <a:solidFill>
                  <a:schemeClr val="dk1"/>
                </a:solidFill>
              </a:rPr>
              <a:t> to measure customer experience</a:t>
            </a:r>
            <a:endParaRPr sz="4400">
              <a:solidFill>
                <a:schemeClr val="dk1"/>
              </a:solidFill>
            </a:endParaRPr>
          </a:p>
          <a:p>
            <a:pPr indent="0" lvl="0" marL="0" rtl="0" algn="l">
              <a:spcBef>
                <a:spcPts val="0"/>
              </a:spcBef>
              <a:spcAft>
                <a:spcPts val="0"/>
              </a:spcAft>
              <a:buNone/>
            </a:pPr>
            <a:r>
              <a:t/>
            </a:r>
            <a:endParaRPr sz="4400">
              <a:solidFill>
                <a:schemeClr val="dk1"/>
              </a:solidFill>
            </a:endParaRPr>
          </a:p>
          <a:p>
            <a:pPr indent="0" lvl="0" marL="0" rtl="0" algn="l">
              <a:spcBef>
                <a:spcPts val="0"/>
              </a:spcBef>
              <a:spcAft>
                <a:spcPts val="0"/>
              </a:spcAft>
              <a:buClr>
                <a:schemeClr val="dk1"/>
              </a:buClr>
              <a:buSzPts val="1100"/>
              <a:buFont typeface="Arial"/>
              <a:buNone/>
            </a:pPr>
            <a:r>
              <a:rPr b="1" lang="en-US" sz="4400">
                <a:solidFill>
                  <a:srgbClr val="007042"/>
                </a:solidFill>
              </a:rPr>
              <a:t>Expected Outcomes:</a:t>
            </a:r>
            <a:endParaRPr b="1" sz="4400">
              <a:solidFill>
                <a:srgbClr val="007042"/>
              </a:solidFill>
            </a:endParaRPr>
          </a:p>
          <a:p>
            <a:pPr indent="0" lvl="0" marL="457200" rtl="0" algn="l">
              <a:spcBef>
                <a:spcPts val="0"/>
              </a:spcBef>
              <a:spcAft>
                <a:spcPts val="0"/>
              </a:spcAft>
              <a:buClr>
                <a:schemeClr val="dk1"/>
              </a:buClr>
              <a:buSzPts val="1100"/>
              <a:buFont typeface="Arial"/>
              <a:buNone/>
            </a:pPr>
            <a:r>
              <a:t/>
            </a:r>
            <a:endParaRPr sz="4400">
              <a:solidFill>
                <a:schemeClr val="dk1"/>
              </a:solidFill>
            </a:endParaRPr>
          </a:p>
          <a:p>
            <a:pPr indent="-508000" lvl="0" marL="457200" rtl="0" algn="l">
              <a:spcBef>
                <a:spcPts val="0"/>
              </a:spcBef>
              <a:spcAft>
                <a:spcPts val="0"/>
              </a:spcAft>
              <a:buClr>
                <a:schemeClr val="dk1"/>
              </a:buClr>
              <a:buSzPts val="4400"/>
              <a:buChar char="●"/>
            </a:pPr>
            <a:r>
              <a:rPr lang="en-US" sz="4400">
                <a:solidFill>
                  <a:schemeClr val="dk1"/>
                </a:solidFill>
              </a:rPr>
              <a:t>Identify key factors that influence customer satisfaction on starbucks</a:t>
            </a:r>
            <a:endParaRPr sz="4400">
              <a:solidFill>
                <a:schemeClr val="dk1"/>
              </a:solidFill>
            </a:endParaRPr>
          </a:p>
          <a:p>
            <a:pPr indent="0" lvl="0" marL="0" rtl="0" algn="l">
              <a:spcBef>
                <a:spcPts val="0"/>
              </a:spcBef>
              <a:spcAft>
                <a:spcPts val="0"/>
              </a:spcAft>
              <a:buNone/>
            </a:pPr>
            <a:r>
              <a:t/>
            </a:r>
            <a:endParaRPr sz="4400">
              <a:solidFill>
                <a:schemeClr val="dk1"/>
              </a:solidFill>
            </a:endParaRPr>
          </a:p>
          <a:p>
            <a:pPr indent="-508000" lvl="0" marL="457200" rtl="0" algn="l">
              <a:spcBef>
                <a:spcPts val="0"/>
              </a:spcBef>
              <a:spcAft>
                <a:spcPts val="0"/>
              </a:spcAft>
              <a:buClr>
                <a:schemeClr val="dk1"/>
              </a:buClr>
              <a:buSzPts val="4400"/>
              <a:buChar char="●"/>
            </a:pPr>
            <a:r>
              <a:rPr lang="en-US" sz="4400">
                <a:solidFill>
                  <a:schemeClr val="dk1"/>
                </a:solidFill>
              </a:rPr>
              <a:t>Find regional differences in customer satisfaction</a:t>
            </a:r>
            <a:endParaRPr sz="4400">
              <a:solidFill>
                <a:schemeClr val="dk1"/>
              </a:solidFill>
            </a:endParaRPr>
          </a:p>
          <a:p>
            <a:pPr indent="0" lvl="0" marL="0" rtl="0" algn="l">
              <a:spcBef>
                <a:spcPts val="0"/>
              </a:spcBef>
              <a:spcAft>
                <a:spcPts val="0"/>
              </a:spcAft>
              <a:buNone/>
            </a:pPr>
            <a:r>
              <a:t/>
            </a:r>
            <a:endParaRPr sz="4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78" name="Shape 78"/>
        <p:cNvGrpSpPr/>
        <p:nvPr/>
      </p:nvGrpSpPr>
      <p:grpSpPr>
        <a:xfrm>
          <a:off x="0" y="0"/>
          <a:ext cx="0" cy="0"/>
          <a:chOff x="0" y="0"/>
          <a:chExt cx="0" cy="0"/>
        </a:xfrm>
      </p:grpSpPr>
      <p:sp>
        <p:nvSpPr>
          <p:cNvPr id="79" name="Google Shape;79;g33b9ec0942d_0_34"/>
          <p:cNvSpPr/>
          <p:nvPr/>
        </p:nvSpPr>
        <p:spPr>
          <a:xfrm>
            <a:off x="613375" y="9797625"/>
            <a:ext cx="22129500" cy="2507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80" name="Google Shape;80;g33b9ec0942d_0_34"/>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3b9ec0942d_0_34"/>
          <p:cNvSpPr/>
          <p:nvPr/>
        </p:nvSpPr>
        <p:spPr>
          <a:xfrm>
            <a:off x="1351113" y="7998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lang="en-US" sz="7600">
                <a:solidFill>
                  <a:srgbClr val="007042"/>
                </a:solidFill>
                <a:latin typeface="Red Hat Display Black"/>
                <a:ea typeface="Red Hat Display Black"/>
                <a:cs typeface="Red Hat Display Black"/>
                <a:sym typeface="Red Hat Display Black"/>
              </a:rPr>
              <a:t>Data preprocessing &amp; Cleaning</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82" name="Google Shape;82;g33b9ec0942d_0_34"/>
          <p:cNvSpPr/>
          <p:nvPr/>
        </p:nvSpPr>
        <p:spPr>
          <a:xfrm rot="10800000">
            <a:off x="1776450" y="3296436"/>
            <a:ext cx="8332500" cy="2351100"/>
          </a:xfrm>
          <a:prstGeom prst="trapezoid">
            <a:avLst>
              <a:gd fmla="val 25000" name="adj"/>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g33b9ec0942d_0_34"/>
          <p:cNvSpPr/>
          <p:nvPr/>
        </p:nvSpPr>
        <p:spPr>
          <a:xfrm rot="10800000">
            <a:off x="3088500" y="10102425"/>
            <a:ext cx="5708400" cy="1765800"/>
          </a:xfrm>
          <a:prstGeom prst="trapezoid">
            <a:avLst>
              <a:gd fmla="val 25000"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g33b9ec0942d_0_34"/>
          <p:cNvSpPr/>
          <p:nvPr/>
        </p:nvSpPr>
        <p:spPr>
          <a:xfrm rot="10800000">
            <a:off x="2434350" y="6821225"/>
            <a:ext cx="7016700" cy="1802700"/>
          </a:xfrm>
          <a:prstGeom prst="trapezoid">
            <a:avLst>
              <a:gd fmla="val 25000" name="adj"/>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3b9ec0942d_0_34"/>
          <p:cNvSpPr txBox="1"/>
          <p:nvPr/>
        </p:nvSpPr>
        <p:spPr>
          <a:xfrm>
            <a:off x="10622925" y="3955475"/>
            <a:ext cx="11714100" cy="1163400"/>
          </a:xfrm>
          <a:prstGeom prst="rect">
            <a:avLst/>
          </a:prstGeom>
          <a:noFill/>
          <a:ln>
            <a:noFill/>
          </a:ln>
        </p:spPr>
        <p:txBody>
          <a:bodyPr anchorCtr="0" anchor="t" bIns="91425" lIns="91425" spcFirstLastPara="1" rIns="91425" wrap="square" tIns="91425">
            <a:noAutofit/>
          </a:bodyPr>
          <a:lstStyle/>
          <a:p>
            <a:pPr indent="-495300" lvl="0" marL="457200" rtl="0" algn="l">
              <a:spcBef>
                <a:spcPts val="0"/>
              </a:spcBef>
              <a:spcAft>
                <a:spcPts val="0"/>
              </a:spcAft>
              <a:buSzPts val="4200"/>
              <a:buChar char="●"/>
            </a:pPr>
            <a:r>
              <a:rPr lang="en-US" sz="4200"/>
              <a:t>Collect business and review data</a:t>
            </a:r>
            <a:endParaRPr sz="4200"/>
          </a:p>
        </p:txBody>
      </p:sp>
      <p:sp>
        <p:nvSpPr>
          <p:cNvPr id="86" name="Google Shape;86;g33b9ec0942d_0_34"/>
          <p:cNvSpPr/>
          <p:nvPr/>
        </p:nvSpPr>
        <p:spPr>
          <a:xfrm>
            <a:off x="5434650" y="5803925"/>
            <a:ext cx="1016100" cy="676200"/>
          </a:xfrm>
          <a:prstGeom prst="downArrow">
            <a:avLst>
              <a:gd fmla="val 50000" name="adj1"/>
              <a:gd fmla="val 50000" name="adj2"/>
            </a:avLst>
          </a:prstGeom>
          <a:solidFill>
            <a:srgbClr val="6AA84F"/>
          </a:solidFill>
          <a:ln cap="flat" cmpd="sng" w="28575">
            <a:solidFill>
              <a:srgbClr val="0E0E0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g33b9ec0942d_0_34"/>
          <p:cNvSpPr/>
          <p:nvPr/>
        </p:nvSpPr>
        <p:spPr>
          <a:xfrm>
            <a:off x="5434650" y="8965050"/>
            <a:ext cx="1016100" cy="676200"/>
          </a:xfrm>
          <a:prstGeom prst="downArrow">
            <a:avLst>
              <a:gd fmla="val 50000" name="adj1"/>
              <a:gd fmla="val 50000" name="adj2"/>
            </a:avLst>
          </a:prstGeom>
          <a:solidFill>
            <a:srgbClr val="6AA84F"/>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g33b9ec0942d_0_34"/>
          <p:cNvSpPr txBox="1"/>
          <p:nvPr/>
        </p:nvSpPr>
        <p:spPr>
          <a:xfrm>
            <a:off x="10595950" y="6523975"/>
            <a:ext cx="14392200" cy="2994300"/>
          </a:xfrm>
          <a:prstGeom prst="rect">
            <a:avLst/>
          </a:prstGeom>
          <a:noFill/>
          <a:ln>
            <a:noFill/>
          </a:ln>
        </p:spPr>
        <p:txBody>
          <a:bodyPr anchorCtr="0" anchor="t" bIns="91425" lIns="91425" spcFirstLastPara="1" rIns="91425" wrap="square" tIns="91425">
            <a:noAutofit/>
          </a:bodyPr>
          <a:lstStyle/>
          <a:p>
            <a:pPr indent="-495300" lvl="0" marL="457200" rtl="0" algn="l">
              <a:spcBef>
                <a:spcPts val="0"/>
              </a:spcBef>
              <a:spcAft>
                <a:spcPts val="0"/>
              </a:spcAft>
              <a:buSzPts val="4200"/>
              <a:buChar char="●"/>
            </a:pPr>
            <a:r>
              <a:rPr lang="en-US" sz="4200"/>
              <a:t>Inner join business and review data</a:t>
            </a:r>
            <a:endParaRPr sz="4200"/>
          </a:p>
          <a:p>
            <a:pPr indent="-495300" lvl="0" marL="457200" rtl="0" algn="l">
              <a:spcBef>
                <a:spcPts val="0"/>
              </a:spcBef>
              <a:spcAft>
                <a:spcPts val="0"/>
              </a:spcAft>
              <a:buSzPts val="4200"/>
              <a:buChar char="●"/>
            </a:pPr>
            <a:r>
              <a:rPr lang="en-US" sz="4200"/>
              <a:t>Remove noise (spam, duplicates, and missing values)</a:t>
            </a:r>
            <a:endParaRPr sz="4200"/>
          </a:p>
          <a:p>
            <a:pPr indent="-495300" lvl="0" marL="457200" rtl="0" algn="l">
              <a:spcBef>
                <a:spcPts val="0"/>
              </a:spcBef>
              <a:spcAft>
                <a:spcPts val="0"/>
              </a:spcAft>
              <a:buSzPts val="4200"/>
              <a:buChar char="●"/>
            </a:pPr>
            <a:r>
              <a:rPr lang="en-US" sz="4200"/>
              <a:t>Filter only coffee and cafe businesses</a:t>
            </a:r>
            <a:endParaRPr sz="4200"/>
          </a:p>
        </p:txBody>
      </p:sp>
      <p:sp>
        <p:nvSpPr>
          <p:cNvPr id="89" name="Google Shape;89;g33b9ec0942d_0_34"/>
          <p:cNvSpPr txBox="1"/>
          <p:nvPr/>
        </p:nvSpPr>
        <p:spPr>
          <a:xfrm>
            <a:off x="10622925" y="10448525"/>
            <a:ext cx="11172900" cy="1542000"/>
          </a:xfrm>
          <a:prstGeom prst="rect">
            <a:avLst/>
          </a:prstGeom>
          <a:noFill/>
          <a:ln>
            <a:noFill/>
          </a:ln>
        </p:spPr>
        <p:txBody>
          <a:bodyPr anchorCtr="0" anchor="t" bIns="91425" lIns="91425" spcFirstLastPara="1" rIns="91425" wrap="square" tIns="91425">
            <a:noAutofit/>
          </a:bodyPr>
          <a:lstStyle/>
          <a:p>
            <a:pPr indent="-495300" lvl="0" marL="457200" rtl="0" algn="l">
              <a:spcBef>
                <a:spcPts val="0"/>
              </a:spcBef>
              <a:spcAft>
                <a:spcPts val="0"/>
              </a:spcAft>
              <a:buSzPts val="4200"/>
              <a:buChar char="●"/>
            </a:pPr>
            <a:r>
              <a:rPr lang="en-US" sz="4200"/>
              <a:t>Extract Starbucks data</a:t>
            </a:r>
            <a:endParaRPr sz="4200"/>
          </a:p>
        </p:txBody>
      </p:sp>
      <p:sp>
        <p:nvSpPr>
          <p:cNvPr id="90" name="Google Shape;90;g33b9ec0942d_0_34"/>
          <p:cNvSpPr txBox="1"/>
          <p:nvPr/>
        </p:nvSpPr>
        <p:spPr>
          <a:xfrm>
            <a:off x="4157250" y="10557525"/>
            <a:ext cx="3868800" cy="8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400"/>
              <a:t>20,000 </a:t>
            </a:r>
            <a:r>
              <a:rPr b="1" lang="en-US" sz="3400"/>
              <a:t>Reviews</a:t>
            </a:r>
            <a:endParaRPr b="1" sz="3400"/>
          </a:p>
        </p:txBody>
      </p:sp>
      <p:sp>
        <p:nvSpPr>
          <p:cNvPr id="91" name="Google Shape;91;g33b9ec0942d_0_34"/>
          <p:cNvSpPr txBox="1"/>
          <p:nvPr/>
        </p:nvSpPr>
        <p:spPr>
          <a:xfrm>
            <a:off x="4062750" y="7294788"/>
            <a:ext cx="4057800" cy="8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400"/>
              <a:t>60,000 </a:t>
            </a:r>
            <a:r>
              <a:rPr b="1" lang="en-US" sz="3400"/>
              <a:t>Reviews</a:t>
            </a:r>
            <a:endParaRPr b="1" sz="3400"/>
          </a:p>
        </p:txBody>
      </p:sp>
      <p:sp>
        <p:nvSpPr>
          <p:cNvPr id="92" name="Google Shape;92;g33b9ec0942d_0_34"/>
          <p:cNvSpPr txBox="1"/>
          <p:nvPr/>
        </p:nvSpPr>
        <p:spPr>
          <a:xfrm>
            <a:off x="4410750" y="3955475"/>
            <a:ext cx="3709800" cy="11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800"/>
              <a:t>Raw Data</a:t>
            </a:r>
            <a:endParaRPr b="1" sz="4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7" name="Shape 97"/>
        <p:cNvGrpSpPr/>
        <p:nvPr/>
      </p:nvGrpSpPr>
      <p:grpSpPr>
        <a:xfrm>
          <a:off x="0" y="0"/>
          <a:ext cx="0" cy="0"/>
          <a:chOff x="0" y="0"/>
          <a:chExt cx="0" cy="0"/>
        </a:xfrm>
      </p:grpSpPr>
      <p:sp>
        <p:nvSpPr>
          <p:cNvPr id="98" name="Google Shape;98;g33c0001f0a5_4_66"/>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33c0001f0a5_4_66"/>
          <p:cNvSpPr/>
          <p:nvPr/>
        </p:nvSpPr>
        <p:spPr>
          <a:xfrm>
            <a:off x="1700576" y="1008400"/>
            <a:ext cx="221706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 - Average Score per State</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100" name="Google Shape;100;g33c0001f0a5_4_66"/>
          <p:cNvPicPr preferRelativeResize="0"/>
          <p:nvPr/>
        </p:nvPicPr>
        <p:blipFill>
          <a:blip r:embed="rId3">
            <a:alphaModFix/>
          </a:blip>
          <a:stretch>
            <a:fillRect/>
          </a:stretch>
        </p:blipFill>
        <p:spPr>
          <a:xfrm>
            <a:off x="2209013" y="2525000"/>
            <a:ext cx="19968999" cy="9908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05" name="Shape 105"/>
        <p:cNvGrpSpPr/>
        <p:nvPr/>
      </p:nvGrpSpPr>
      <p:grpSpPr>
        <a:xfrm>
          <a:off x="0" y="0"/>
          <a:ext cx="0" cy="0"/>
          <a:chOff x="0" y="0"/>
          <a:chExt cx="0" cy="0"/>
        </a:xfrm>
      </p:grpSpPr>
      <p:sp>
        <p:nvSpPr>
          <p:cNvPr id="106" name="Google Shape;106;g33c0001f0a5_4_5"/>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33c0001f0a5_4_5"/>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 </a:t>
            </a:r>
            <a:endParaRPr sz="10300">
              <a:solidFill>
                <a:srgbClr val="007042"/>
              </a:solidFill>
              <a:latin typeface="Red Hat Display Black"/>
              <a:ea typeface="Red Hat Display Black"/>
              <a:cs typeface="Red Hat Display Black"/>
              <a:sym typeface="Red Hat Display Black"/>
            </a:endParaRPr>
          </a:p>
        </p:txBody>
      </p:sp>
      <p:pic>
        <p:nvPicPr>
          <p:cNvPr id="108" name="Google Shape;108;g33c0001f0a5_4_5"/>
          <p:cNvPicPr preferRelativeResize="0"/>
          <p:nvPr/>
        </p:nvPicPr>
        <p:blipFill>
          <a:blip r:embed="rId3">
            <a:alphaModFix/>
          </a:blip>
          <a:stretch>
            <a:fillRect/>
          </a:stretch>
        </p:blipFill>
        <p:spPr>
          <a:xfrm>
            <a:off x="932276" y="4214392"/>
            <a:ext cx="10759426" cy="6973220"/>
          </a:xfrm>
          <a:prstGeom prst="rect">
            <a:avLst/>
          </a:prstGeom>
          <a:noFill/>
          <a:ln>
            <a:noFill/>
          </a:ln>
        </p:spPr>
      </p:pic>
      <p:pic>
        <p:nvPicPr>
          <p:cNvPr id="109" name="Google Shape;109;g33c0001f0a5_4_5"/>
          <p:cNvPicPr preferRelativeResize="0"/>
          <p:nvPr/>
        </p:nvPicPr>
        <p:blipFill>
          <a:blip r:embed="rId4">
            <a:alphaModFix/>
          </a:blip>
          <a:stretch>
            <a:fillRect/>
          </a:stretch>
        </p:blipFill>
        <p:spPr>
          <a:xfrm>
            <a:off x="12590200" y="4222637"/>
            <a:ext cx="10759426" cy="6956739"/>
          </a:xfrm>
          <a:prstGeom prst="rect">
            <a:avLst/>
          </a:prstGeom>
          <a:noFill/>
          <a:ln>
            <a:noFill/>
          </a:ln>
        </p:spPr>
      </p:pic>
      <p:sp>
        <p:nvSpPr>
          <p:cNvPr id="110" name="Google Shape;110;g33c0001f0a5_4_5"/>
          <p:cNvSpPr/>
          <p:nvPr/>
        </p:nvSpPr>
        <p:spPr>
          <a:xfrm>
            <a:off x="1700550" y="2740500"/>
            <a:ext cx="20985900" cy="185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b="1" lang="en-US" sz="7600">
                <a:solidFill>
                  <a:srgbClr val="007042"/>
                </a:solidFill>
              </a:rPr>
              <a:t>Delaware</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15" name="Shape 115"/>
        <p:cNvGrpSpPr/>
        <p:nvPr/>
      </p:nvGrpSpPr>
      <p:grpSpPr>
        <a:xfrm>
          <a:off x="0" y="0"/>
          <a:ext cx="0" cy="0"/>
          <a:chOff x="0" y="0"/>
          <a:chExt cx="0" cy="0"/>
        </a:xfrm>
      </p:grpSpPr>
      <p:sp>
        <p:nvSpPr>
          <p:cNvPr id="116" name="Google Shape;116;g33c0001f0a5_4_17"/>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3c0001f0a5_4_17"/>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18" name="Google Shape;118;g33c0001f0a5_4_17"/>
          <p:cNvSpPr/>
          <p:nvPr/>
        </p:nvSpPr>
        <p:spPr>
          <a:xfrm>
            <a:off x="1700550" y="2740500"/>
            <a:ext cx="20985900" cy="185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b="1" lang="en-US" sz="7600">
                <a:solidFill>
                  <a:srgbClr val="007042"/>
                </a:solidFill>
              </a:rPr>
              <a:t>Idaho</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119" name="Google Shape;119;g33c0001f0a5_4_17"/>
          <p:cNvPicPr preferRelativeResize="0"/>
          <p:nvPr/>
        </p:nvPicPr>
        <p:blipFill>
          <a:blip r:embed="rId3">
            <a:alphaModFix/>
          </a:blip>
          <a:stretch>
            <a:fillRect/>
          </a:stretch>
        </p:blipFill>
        <p:spPr>
          <a:xfrm>
            <a:off x="12611400" y="4222599"/>
            <a:ext cx="10759525" cy="6956801"/>
          </a:xfrm>
          <a:prstGeom prst="rect">
            <a:avLst/>
          </a:prstGeom>
          <a:noFill/>
          <a:ln>
            <a:noFill/>
          </a:ln>
        </p:spPr>
      </p:pic>
      <p:pic>
        <p:nvPicPr>
          <p:cNvPr id="120" name="Google Shape;120;g33c0001f0a5_4_17"/>
          <p:cNvPicPr preferRelativeResize="0"/>
          <p:nvPr/>
        </p:nvPicPr>
        <p:blipFill>
          <a:blip r:embed="rId4">
            <a:alphaModFix/>
          </a:blip>
          <a:stretch>
            <a:fillRect/>
          </a:stretch>
        </p:blipFill>
        <p:spPr>
          <a:xfrm>
            <a:off x="937500" y="4222589"/>
            <a:ext cx="10759525" cy="69568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25" name="Shape 125"/>
        <p:cNvGrpSpPr/>
        <p:nvPr/>
      </p:nvGrpSpPr>
      <p:grpSpPr>
        <a:xfrm>
          <a:off x="0" y="0"/>
          <a:ext cx="0" cy="0"/>
          <a:chOff x="0" y="0"/>
          <a:chExt cx="0" cy="0"/>
        </a:xfrm>
      </p:grpSpPr>
      <p:sp>
        <p:nvSpPr>
          <p:cNvPr id="126" name="Google Shape;126;g33c0001f0a5_4_28"/>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g33c0001f0a5_4_28"/>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28" name="Google Shape;128;g33c0001f0a5_4_28"/>
          <p:cNvSpPr/>
          <p:nvPr/>
        </p:nvSpPr>
        <p:spPr>
          <a:xfrm>
            <a:off x="1700550" y="2740500"/>
            <a:ext cx="20985900" cy="185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b="1" lang="en-US" sz="7600">
                <a:solidFill>
                  <a:srgbClr val="007042"/>
                </a:solidFill>
              </a:rPr>
              <a:t>Arizona</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129" name="Google Shape;129;g33c0001f0a5_4_28"/>
          <p:cNvPicPr preferRelativeResize="0"/>
          <p:nvPr/>
        </p:nvPicPr>
        <p:blipFill>
          <a:blip r:embed="rId3">
            <a:alphaModFix/>
          </a:blip>
          <a:stretch>
            <a:fillRect/>
          </a:stretch>
        </p:blipFill>
        <p:spPr>
          <a:xfrm>
            <a:off x="910375" y="4222600"/>
            <a:ext cx="10861255" cy="6956799"/>
          </a:xfrm>
          <a:prstGeom prst="rect">
            <a:avLst/>
          </a:prstGeom>
          <a:noFill/>
          <a:ln>
            <a:noFill/>
          </a:ln>
        </p:spPr>
      </p:pic>
      <p:pic>
        <p:nvPicPr>
          <p:cNvPr id="130" name="Google Shape;130;g33c0001f0a5_4_28"/>
          <p:cNvPicPr preferRelativeResize="0"/>
          <p:nvPr/>
        </p:nvPicPr>
        <p:blipFill>
          <a:blip r:embed="rId4">
            <a:alphaModFix/>
          </a:blip>
          <a:stretch>
            <a:fillRect/>
          </a:stretch>
        </p:blipFill>
        <p:spPr>
          <a:xfrm>
            <a:off x="12616173" y="4230741"/>
            <a:ext cx="10861251" cy="69486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35" name="Shape 135"/>
        <p:cNvGrpSpPr/>
        <p:nvPr/>
      </p:nvGrpSpPr>
      <p:grpSpPr>
        <a:xfrm>
          <a:off x="0" y="0"/>
          <a:ext cx="0" cy="0"/>
          <a:chOff x="0" y="0"/>
          <a:chExt cx="0" cy="0"/>
        </a:xfrm>
      </p:grpSpPr>
      <p:sp>
        <p:nvSpPr>
          <p:cNvPr id="136" name="Google Shape;136;g33c0001f0a5_4_39"/>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3c0001f0a5_4_39"/>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38" name="Google Shape;138;g33c0001f0a5_4_39"/>
          <p:cNvSpPr/>
          <p:nvPr/>
        </p:nvSpPr>
        <p:spPr>
          <a:xfrm>
            <a:off x="1700550" y="2740500"/>
            <a:ext cx="20985900" cy="185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b="1" lang="en-US" sz="7600">
                <a:solidFill>
                  <a:srgbClr val="007042"/>
                </a:solidFill>
              </a:rPr>
              <a:t>Missouri</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139" name="Google Shape;139;g33c0001f0a5_4_39"/>
          <p:cNvPicPr preferRelativeResize="0"/>
          <p:nvPr/>
        </p:nvPicPr>
        <p:blipFill>
          <a:blip r:embed="rId3">
            <a:alphaModFix/>
          </a:blip>
          <a:stretch>
            <a:fillRect/>
          </a:stretch>
        </p:blipFill>
        <p:spPr>
          <a:xfrm>
            <a:off x="964250" y="4253575"/>
            <a:ext cx="10581766" cy="6948650"/>
          </a:xfrm>
          <a:prstGeom prst="rect">
            <a:avLst/>
          </a:prstGeom>
          <a:noFill/>
          <a:ln>
            <a:noFill/>
          </a:ln>
        </p:spPr>
      </p:pic>
      <p:pic>
        <p:nvPicPr>
          <p:cNvPr id="140" name="Google Shape;140;g33c0001f0a5_4_39"/>
          <p:cNvPicPr preferRelativeResize="0"/>
          <p:nvPr/>
        </p:nvPicPr>
        <p:blipFill>
          <a:blip r:embed="rId4">
            <a:alphaModFix/>
          </a:blip>
          <a:stretch>
            <a:fillRect/>
          </a:stretch>
        </p:blipFill>
        <p:spPr>
          <a:xfrm>
            <a:off x="12554925" y="4253575"/>
            <a:ext cx="10746875" cy="6948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45" name="Shape 145"/>
        <p:cNvGrpSpPr/>
        <p:nvPr/>
      </p:nvGrpSpPr>
      <p:grpSpPr>
        <a:xfrm>
          <a:off x="0" y="0"/>
          <a:ext cx="0" cy="0"/>
          <a:chOff x="0" y="0"/>
          <a:chExt cx="0" cy="0"/>
        </a:xfrm>
      </p:grpSpPr>
      <p:sp>
        <p:nvSpPr>
          <p:cNvPr id="146" name="Google Shape;146;g33b9ec0942d_0_53"/>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3b9ec0942d_0_53"/>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48" name="Google Shape;148;g33b9ec0942d_0_53"/>
          <p:cNvSpPr txBox="1"/>
          <p:nvPr/>
        </p:nvSpPr>
        <p:spPr>
          <a:xfrm>
            <a:off x="1923475" y="3454425"/>
            <a:ext cx="20985900" cy="89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t>We found that average customer sentiment and average review scores are indeed </a:t>
            </a:r>
            <a:r>
              <a:rPr b="1" lang="en-US" sz="4400"/>
              <a:t>correlated</a:t>
            </a:r>
            <a:r>
              <a:rPr lang="en-US" sz="4400"/>
              <a:t> (i.e. when review scores dip, customer sentiment dips a similar amount).</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b="1" lang="en-US" sz="4400"/>
              <a:t>Some observations:</a:t>
            </a:r>
            <a:endParaRPr b="1" sz="4400"/>
          </a:p>
          <a:p>
            <a:pPr indent="0" lvl="0" marL="0" rtl="0" algn="l">
              <a:spcBef>
                <a:spcPts val="0"/>
              </a:spcBef>
              <a:spcAft>
                <a:spcPts val="0"/>
              </a:spcAft>
              <a:buNone/>
            </a:pPr>
            <a:r>
              <a:t/>
            </a:r>
            <a:endParaRPr sz="4400"/>
          </a:p>
          <a:p>
            <a:pPr indent="-508000" lvl="0" marL="457200" rtl="0" algn="l">
              <a:spcBef>
                <a:spcPts val="0"/>
              </a:spcBef>
              <a:spcAft>
                <a:spcPts val="0"/>
              </a:spcAft>
              <a:buSzPts val="4400"/>
              <a:buChar char="●"/>
            </a:pPr>
            <a:r>
              <a:rPr lang="en-US" sz="4400"/>
              <a:t>In many states, customer sentiment has </a:t>
            </a:r>
            <a:r>
              <a:rPr b="1" lang="en-US" sz="4400"/>
              <a:t>trended downward </a:t>
            </a:r>
            <a:r>
              <a:rPr lang="en-US" sz="4400"/>
              <a:t>between 2008 and 2022 (with Delaware and Idaho being especially bad)</a:t>
            </a:r>
            <a:endParaRPr sz="4400"/>
          </a:p>
          <a:p>
            <a:pPr indent="0" lvl="0" marL="457200" rtl="0" algn="l">
              <a:spcBef>
                <a:spcPts val="0"/>
              </a:spcBef>
              <a:spcAft>
                <a:spcPts val="0"/>
              </a:spcAft>
              <a:buNone/>
            </a:pPr>
            <a:r>
              <a:t/>
            </a:r>
            <a:endParaRPr sz="4400"/>
          </a:p>
          <a:p>
            <a:pPr indent="-508000" lvl="0" marL="457200" rtl="0" algn="l">
              <a:spcBef>
                <a:spcPts val="0"/>
              </a:spcBef>
              <a:spcAft>
                <a:spcPts val="0"/>
              </a:spcAft>
              <a:buSzPts val="4400"/>
              <a:buChar char="●"/>
            </a:pPr>
            <a:r>
              <a:rPr lang="en-US" sz="4400"/>
              <a:t>Some states are performing</a:t>
            </a:r>
            <a:r>
              <a:rPr b="1" lang="en-US" sz="4400"/>
              <a:t> relatively well </a:t>
            </a:r>
            <a:r>
              <a:rPr lang="en-US" sz="4400"/>
              <a:t>with less of a decline in sentiment and even major improvement in recent years (</a:t>
            </a:r>
            <a:r>
              <a:rPr b="1" lang="en-US" sz="4400"/>
              <a:t>e.g. Arizona and </a:t>
            </a:r>
            <a:r>
              <a:rPr b="1" lang="en-US" sz="4400"/>
              <a:t>Louisiana</a:t>
            </a:r>
            <a:r>
              <a:rPr b="1" lang="en-US" sz="4400"/>
              <a:t>)</a:t>
            </a:r>
            <a:endParaRPr b="1" sz="4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53" name="Shape 153"/>
        <p:cNvGrpSpPr/>
        <p:nvPr/>
      </p:nvGrpSpPr>
      <p:grpSpPr>
        <a:xfrm>
          <a:off x="0" y="0"/>
          <a:ext cx="0" cy="0"/>
          <a:chOff x="0" y="0"/>
          <a:chExt cx="0" cy="0"/>
        </a:xfrm>
      </p:grpSpPr>
      <p:sp>
        <p:nvSpPr>
          <p:cNvPr id="154" name="Google Shape;154;g33c188f9144_0_24"/>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Sentiment Analysis - AZ AND LA</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55" name="Google Shape;155;g33c188f9144_0_24"/>
          <p:cNvSpPr/>
          <p:nvPr/>
        </p:nvSpPr>
        <p:spPr>
          <a:xfrm>
            <a:off x="1700550" y="2740500"/>
            <a:ext cx="20985900" cy="1854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156" name="Google Shape;156;g33c188f9144_0_24"/>
          <p:cNvSpPr txBox="1"/>
          <p:nvPr/>
        </p:nvSpPr>
        <p:spPr>
          <a:xfrm>
            <a:off x="3438300" y="3461525"/>
            <a:ext cx="10198800" cy="119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g33c188f9144_0_24"/>
          <p:cNvPicPr preferRelativeResize="0"/>
          <p:nvPr/>
        </p:nvPicPr>
        <p:blipFill>
          <a:blip r:embed="rId3">
            <a:alphaModFix/>
          </a:blip>
          <a:stretch>
            <a:fillRect/>
          </a:stretch>
        </p:blipFill>
        <p:spPr>
          <a:xfrm>
            <a:off x="12066674" y="2921375"/>
            <a:ext cx="9352950" cy="6830125"/>
          </a:xfrm>
          <a:prstGeom prst="rect">
            <a:avLst/>
          </a:prstGeom>
          <a:noFill/>
          <a:ln>
            <a:noFill/>
          </a:ln>
        </p:spPr>
      </p:pic>
      <p:pic>
        <p:nvPicPr>
          <p:cNvPr id="158" name="Google Shape;158;g33c188f9144_0_24"/>
          <p:cNvPicPr preferRelativeResize="0"/>
          <p:nvPr/>
        </p:nvPicPr>
        <p:blipFill>
          <a:blip r:embed="rId4">
            <a:alphaModFix/>
          </a:blip>
          <a:stretch>
            <a:fillRect/>
          </a:stretch>
        </p:blipFill>
        <p:spPr>
          <a:xfrm>
            <a:off x="1357675" y="2863300"/>
            <a:ext cx="9915275" cy="6946275"/>
          </a:xfrm>
          <a:prstGeom prst="rect">
            <a:avLst/>
          </a:prstGeom>
          <a:noFill/>
          <a:ln>
            <a:noFill/>
          </a:ln>
        </p:spPr>
      </p:pic>
      <p:sp>
        <p:nvSpPr>
          <p:cNvPr id="159" name="Google Shape;159;g33c188f9144_0_24"/>
          <p:cNvSpPr txBox="1"/>
          <p:nvPr/>
        </p:nvSpPr>
        <p:spPr>
          <a:xfrm>
            <a:off x="1700550" y="9971975"/>
            <a:ext cx="19324800" cy="32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000"/>
              <a:t>From our </a:t>
            </a:r>
            <a:r>
              <a:rPr lang="en-US" sz="4000"/>
              <a:t>preliminary</a:t>
            </a:r>
            <a:r>
              <a:rPr lang="en-US" sz="4000"/>
              <a:t> data exploration, we found that the </a:t>
            </a:r>
            <a:r>
              <a:rPr b="1" lang="en-US" sz="4000"/>
              <a:t>average review scores and customer sentiment </a:t>
            </a:r>
            <a:r>
              <a:rPr lang="en-US" sz="4000"/>
              <a:t>has been declining at Starbucks in most states, with the exception of </a:t>
            </a:r>
            <a:r>
              <a:rPr b="1" lang="en-US" sz="4000"/>
              <a:t>Arizona (AZ) and Louisiana (LA)</a:t>
            </a:r>
            <a:r>
              <a:rPr lang="en-US" sz="4000"/>
              <a:t> where we see notably </a:t>
            </a:r>
            <a:r>
              <a:rPr b="1" lang="en-US" sz="4000"/>
              <a:t>higher averages.</a:t>
            </a:r>
            <a:endParaRPr b="1" sz="4000"/>
          </a:p>
          <a:p>
            <a:pPr indent="0" lvl="0" marL="0" rtl="0" algn="l">
              <a:spcBef>
                <a:spcPts val="0"/>
              </a:spcBef>
              <a:spcAft>
                <a:spcPts val="0"/>
              </a:spcAft>
              <a:buNone/>
            </a:pPr>
            <a:r>
              <a:t/>
            </a:r>
            <a:endParaRPr sz="2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64" name="Shape 164"/>
        <p:cNvGrpSpPr/>
        <p:nvPr/>
      </p:nvGrpSpPr>
      <p:grpSpPr>
        <a:xfrm>
          <a:off x="0" y="0"/>
          <a:ext cx="0" cy="0"/>
          <a:chOff x="0" y="0"/>
          <a:chExt cx="0" cy="0"/>
        </a:xfrm>
      </p:grpSpPr>
      <p:sp>
        <p:nvSpPr>
          <p:cNvPr id="165" name="Google Shape;165;g33b9ec0942d_0_83"/>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3b9ec0942d_0_83"/>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600">
                <a:solidFill>
                  <a:srgbClr val="007042"/>
                </a:solidFill>
              </a:rPr>
              <a:t>Sentiment Analysis - AZ vs LA</a:t>
            </a:r>
            <a:endParaRPr sz="10300">
              <a:solidFill>
                <a:srgbClr val="007042"/>
              </a:solidFill>
              <a:latin typeface="Red Hat Display Black"/>
              <a:ea typeface="Red Hat Display Black"/>
              <a:cs typeface="Red Hat Display Black"/>
              <a:sym typeface="Red Hat Display Black"/>
            </a:endParaRPr>
          </a:p>
        </p:txBody>
      </p:sp>
      <p:pic>
        <p:nvPicPr>
          <p:cNvPr id="167" name="Google Shape;167;g33b9ec0942d_0_83"/>
          <p:cNvPicPr preferRelativeResize="0"/>
          <p:nvPr/>
        </p:nvPicPr>
        <p:blipFill>
          <a:blip r:embed="rId3">
            <a:alphaModFix/>
          </a:blip>
          <a:stretch>
            <a:fillRect/>
          </a:stretch>
        </p:blipFill>
        <p:spPr>
          <a:xfrm>
            <a:off x="1352100" y="3799375"/>
            <a:ext cx="12353951" cy="6518600"/>
          </a:xfrm>
          <a:prstGeom prst="rect">
            <a:avLst/>
          </a:prstGeom>
          <a:noFill/>
          <a:ln>
            <a:noFill/>
          </a:ln>
        </p:spPr>
      </p:pic>
      <p:sp>
        <p:nvSpPr>
          <p:cNvPr id="168" name="Google Shape;168;g33b9ec0942d_0_83"/>
          <p:cNvSpPr txBox="1"/>
          <p:nvPr/>
        </p:nvSpPr>
        <p:spPr>
          <a:xfrm>
            <a:off x="14399525" y="2863300"/>
            <a:ext cx="9209100" cy="10255200"/>
          </a:xfrm>
          <a:prstGeom prst="rect">
            <a:avLst/>
          </a:prstGeom>
          <a:noFill/>
          <a:ln>
            <a:noFill/>
          </a:ln>
        </p:spPr>
        <p:txBody>
          <a:bodyPr anchorCtr="0" anchor="t" bIns="91425" lIns="91425" spcFirstLastPara="1" rIns="91425" wrap="square" tIns="91425">
            <a:noAutofit/>
          </a:bodyPr>
          <a:lstStyle/>
          <a:p>
            <a:pPr indent="-406400" lvl="0" marL="457200" rtl="0" algn="l">
              <a:spcBef>
                <a:spcPts val="0"/>
              </a:spcBef>
              <a:spcAft>
                <a:spcPts val="0"/>
              </a:spcAft>
              <a:buSzPts val="2800"/>
              <a:buAutoNum type="arabicPeriod"/>
            </a:pPr>
            <a:r>
              <a:rPr b="1" lang="en-US" sz="2800"/>
              <a:t>Arizona’s sentiment is mostly neutral to slightly positive  </a:t>
            </a:r>
            <a:endParaRPr b="1" sz="2800"/>
          </a:p>
          <a:p>
            <a:pPr indent="0" lvl="0" marL="0" rtl="0" algn="l">
              <a:spcBef>
                <a:spcPts val="0"/>
              </a:spcBef>
              <a:spcAft>
                <a:spcPts val="0"/>
              </a:spcAft>
              <a:buNone/>
            </a:pPr>
            <a:r>
              <a:rPr lang="en-US" sz="2800"/>
              <a:t>- The blue bars are </a:t>
            </a:r>
            <a:r>
              <a:rPr b="1" lang="en-US" sz="2800"/>
              <a:t>taller around 0</a:t>
            </a:r>
            <a:r>
              <a:rPr lang="en-US" sz="2800"/>
              <a:t>, meaning most sentiments in Arizona are </a:t>
            </a:r>
            <a:r>
              <a:rPr b="1" lang="en-US" sz="2800"/>
              <a:t>neutral or slightly positive.  </a:t>
            </a:r>
            <a:endParaRPr b="1" sz="2800"/>
          </a:p>
          <a:p>
            <a:pPr indent="0" lvl="0" marL="0" rtl="0" algn="l">
              <a:spcBef>
                <a:spcPts val="0"/>
              </a:spcBef>
              <a:spcAft>
                <a:spcPts val="0"/>
              </a:spcAft>
              <a:buNone/>
            </a:pPr>
            <a:r>
              <a:t/>
            </a:r>
            <a:endParaRPr sz="2800"/>
          </a:p>
          <a:p>
            <a:pPr indent="0" lvl="0" marL="0" rtl="0" algn="l">
              <a:spcBef>
                <a:spcPts val="0"/>
              </a:spcBef>
              <a:spcAft>
                <a:spcPts val="0"/>
              </a:spcAft>
              <a:buNone/>
            </a:pPr>
            <a:r>
              <a:rPr lang="en-US" sz="2800"/>
              <a:t>2. </a:t>
            </a:r>
            <a:r>
              <a:rPr b="1" lang="en-US" sz="2800"/>
              <a:t>Louisiana’s sentiment is more spread out </a:t>
            </a:r>
            <a:endParaRPr b="1" sz="2800"/>
          </a:p>
          <a:p>
            <a:pPr indent="0" lvl="0" marL="0" rtl="0" algn="l">
              <a:spcBef>
                <a:spcPts val="0"/>
              </a:spcBef>
              <a:spcAft>
                <a:spcPts val="0"/>
              </a:spcAft>
              <a:buNone/>
            </a:pPr>
            <a:r>
              <a:rPr lang="en-US" sz="2800"/>
              <a:t> - The red bars are </a:t>
            </a:r>
            <a:r>
              <a:rPr b="1" lang="en-US" sz="2800"/>
              <a:t>more evenly spread</a:t>
            </a:r>
            <a:r>
              <a:rPr lang="en-US" sz="2800"/>
              <a:t>, showing a wider range of positive and negative sentiments.  </a:t>
            </a:r>
            <a:endParaRPr sz="2800"/>
          </a:p>
          <a:p>
            <a:pPr indent="0" lvl="0" marL="0" rtl="0" algn="l">
              <a:spcBef>
                <a:spcPts val="0"/>
              </a:spcBef>
              <a:spcAft>
                <a:spcPts val="0"/>
              </a:spcAft>
              <a:buNone/>
            </a:pPr>
            <a:r>
              <a:t/>
            </a:r>
            <a:endParaRPr sz="2800"/>
          </a:p>
          <a:p>
            <a:pPr indent="0" lvl="0" marL="0" rtl="0" algn="l">
              <a:spcBef>
                <a:spcPts val="0"/>
              </a:spcBef>
              <a:spcAft>
                <a:spcPts val="0"/>
              </a:spcAft>
              <a:buNone/>
            </a:pPr>
            <a:r>
              <a:rPr lang="en-US" sz="2800"/>
              <a:t>3. </a:t>
            </a:r>
            <a:r>
              <a:rPr b="1" lang="en-US" sz="2800"/>
              <a:t>Arizona’s sentiment curve has a sharper peak</a:t>
            </a:r>
            <a:endParaRPr b="1" sz="2800"/>
          </a:p>
          <a:p>
            <a:pPr indent="0" lvl="0" marL="0" rtl="0" algn="l">
              <a:spcBef>
                <a:spcPts val="0"/>
              </a:spcBef>
              <a:spcAft>
                <a:spcPts val="0"/>
              </a:spcAft>
              <a:buNone/>
            </a:pPr>
            <a:r>
              <a:rPr lang="en-US" sz="2800"/>
              <a:t> - The blue line (Arizona) has a </a:t>
            </a:r>
            <a:r>
              <a:rPr b="1" lang="en-US" sz="2800"/>
              <a:t>higher peak</a:t>
            </a:r>
            <a:r>
              <a:rPr lang="en-US" sz="2800"/>
              <a:t>, meaning most opinions are </a:t>
            </a:r>
            <a:r>
              <a:rPr b="1" lang="en-US" sz="2800"/>
              <a:t>similar</a:t>
            </a:r>
            <a:r>
              <a:rPr lang="en-US" sz="2800"/>
              <a:t> and </a:t>
            </a:r>
            <a:r>
              <a:rPr b="1" lang="en-US" sz="2800"/>
              <a:t>less varied</a:t>
            </a:r>
            <a:r>
              <a:rPr lang="en-US" sz="2800"/>
              <a:t>.  </a:t>
            </a:r>
            <a:endParaRPr sz="2800"/>
          </a:p>
          <a:p>
            <a:pPr indent="0" lvl="0" marL="0" rtl="0" algn="l">
              <a:spcBef>
                <a:spcPts val="0"/>
              </a:spcBef>
              <a:spcAft>
                <a:spcPts val="0"/>
              </a:spcAft>
              <a:buNone/>
            </a:pPr>
            <a:r>
              <a:t/>
            </a:r>
            <a:endParaRPr sz="2800"/>
          </a:p>
          <a:p>
            <a:pPr indent="0" lvl="0" marL="0" rtl="0" algn="l">
              <a:spcBef>
                <a:spcPts val="0"/>
              </a:spcBef>
              <a:spcAft>
                <a:spcPts val="0"/>
              </a:spcAft>
              <a:buNone/>
            </a:pPr>
            <a:r>
              <a:rPr lang="en-US" sz="2800"/>
              <a:t>4. </a:t>
            </a:r>
            <a:r>
              <a:rPr b="1" lang="en-US" sz="2800"/>
              <a:t>Louisiana’s sentiment is more diverse  </a:t>
            </a:r>
            <a:endParaRPr b="1" sz="2800"/>
          </a:p>
          <a:p>
            <a:pPr indent="0" lvl="0" marL="0" rtl="0" algn="l">
              <a:spcBef>
                <a:spcPts val="0"/>
              </a:spcBef>
              <a:spcAft>
                <a:spcPts val="0"/>
              </a:spcAft>
              <a:buNone/>
            </a:pPr>
            <a:r>
              <a:rPr lang="en-US" sz="2800"/>
              <a:t> - The red line (Louisiana) is </a:t>
            </a:r>
            <a:r>
              <a:rPr b="1" lang="en-US" sz="2800"/>
              <a:t>flatter</a:t>
            </a:r>
            <a:r>
              <a:rPr lang="en-US" sz="2800"/>
              <a:t>, meaning there are </a:t>
            </a:r>
            <a:r>
              <a:rPr b="1" lang="en-US" sz="2800"/>
              <a:t>more mixed emotions</a:t>
            </a:r>
            <a:r>
              <a:rPr lang="en-US" sz="2800"/>
              <a:t>, with both positive and negative sentiments.  </a:t>
            </a:r>
            <a:endParaRPr sz="2800"/>
          </a:p>
          <a:p>
            <a:pPr indent="0" lvl="0" marL="0" rtl="0" algn="l">
              <a:spcBef>
                <a:spcPts val="0"/>
              </a:spcBef>
              <a:spcAft>
                <a:spcPts val="0"/>
              </a:spcAft>
              <a:buNone/>
            </a:pPr>
            <a:r>
              <a:t/>
            </a:r>
            <a:endParaRPr sz="2800"/>
          </a:p>
          <a:p>
            <a:pPr indent="0" lvl="0" marL="0" rtl="0" algn="l">
              <a:spcBef>
                <a:spcPts val="0"/>
              </a:spcBef>
              <a:spcAft>
                <a:spcPts val="0"/>
              </a:spcAft>
              <a:buNone/>
            </a:pPr>
            <a:r>
              <a:rPr lang="en-US" sz="2800"/>
              <a:t>5. </a:t>
            </a:r>
            <a:r>
              <a:rPr b="1" lang="en-US" sz="2800"/>
              <a:t>Arizona leans slightly positive </a:t>
            </a:r>
            <a:endParaRPr b="1" sz="2800"/>
          </a:p>
          <a:p>
            <a:pPr indent="-406400" lvl="0" marL="457200" rtl="0" algn="l">
              <a:spcBef>
                <a:spcPts val="0"/>
              </a:spcBef>
              <a:spcAft>
                <a:spcPts val="0"/>
              </a:spcAft>
              <a:buSzPts val="2800"/>
              <a:buChar char="-"/>
            </a:pPr>
            <a:r>
              <a:rPr lang="en-US" sz="2800"/>
              <a:t>The blue curve is </a:t>
            </a:r>
            <a:r>
              <a:rPr b="1" lang="en-US" sz="2800"/>
              <a:t>skewed slightly to the right</a:t>
            </a:r>
            <a:r>
              <a:rPr lang="en-US" sz="2800"/>
              <a:t>, indicating </a:t>
            </a:r>
            <a:r>
              <a:rPr b="1" lang="en-US" sz="2800"/>
              <a:t>more positive sentiments</a:t>
            </a:r>
            <a:r>
              <a:rPr lang="en-US" sz="2800"/>
              <a:t> than negative ones. </a:t>
            </a:r>
            <a:r>
              <a:rPr lang="en-US" sz="2800"/>
              <a:t> </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73" name="Shape 173"/>
        <p:cNvGrpSpPr/>
        <p:nvPr/>
      </p:nvGrpSpPr>
      <p:grpSpPr>
        <a:xfrm>
          <a:off x="0" y="0"/>
          <a:ext cx="0" cy="0"/>
          <a:chOff x="0" y="0"/>
          <a:chExt cx="0" cy="0"/>
        </a:xfrm>
      </p:grpSpPr>
      <p:sp>
        <p:nvSpPr>
          <p:cNvPr id="174" name="Google Shape;174;g33b9ec0942d_0_71"/>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3b9ec0942d_0_71"/>
          <p:cNvSpPr/>
          <p:nvPr/>
        </p:nvSpPr>
        <p:spPr>
          <a:xfrm>
            <a:off x="431775" y="398800"/>
            <a:ext cx="21242400" cy="21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600">
                <a:solidFill>
                  <a:srgbClr val="007042"/>
                </a:solidFill>
              </a:rPr>
              <a:t>Descriptive Analysis of the Starbucks Dataset </a:t>
            </a:r>
            <a:endParaRPr sz="10300">
              <a:solidFill>
                <a:srgbClr val="007042"/>
              </a:solidFill>
              <a:latin typeface="Red Hat Display Black"/>
              <a:ea typeface="Red Hat Display Black"/>
              <a:cs typeface="Red Hat Display Black"/>
              <a:sym typeface="Red Hat Display Black"/>
            </a:endParaRPr>
          </a:p>
        </p:txBody>
      </p:sp>
      <p:pic>
        <p:nvPicPr>
          <p:cNvPr id="176" name="Google Shape;176;g33b9ec0942d_0_71"/>
          <p:cNvPicPr preferRelativeResize="0"/>
          <p:nvPr/>
        </p:nvPicPr>
        <p:blipFill rotWithShape="1">
          <a:blip r:embed="rId3">
            <a:alphaModFix/>
          </a:blip>
          <a:srcRect b="4879" l="0" r="0" t="-4880"/>
          <a:stretch/>
        </p:blipFill>
        <p:spPr>
          <a:xfrm>
            <a:off x="1843950" y="2264400"/>
            <a:ext cx="19439002" cy="4964775"/>
          </a:xfrm>
          <a:prstGeom prst="rect">
            <a:avLst/>
          </a:prstGeom>
          <a:noFill/>
          <a:ln>
            <a:noFill/>
          </a:ln>
        </p:spPr>
      </p:pic>
      <p:sp>
        <p:nvSpPr>
          <p:cNvPr id="177" name="Google Shape;177;g33b9ec0942d_0_71"/>
          <p:cNvSpPr txBox="1"/>
          <p:nvPr/>
        </p:nvSpPr>
        <p:spPr>
          <a:xfrm>
            <a:off x="1477600" y="7649700"/>
            <a:ext cx="12309300" cy="519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t>21,739 reviews </a:t>
            </a:r>
            <a:r>
              <a:rPr lang="en-US" sz="2200"/>
              <a:t>covering ratings, sentiment, engagement, and business status.  </a:t>
            </a:r>
            <a:br>
              <a:rPr lang="en-US" sz="2200"/>
            </a:br>
            <a:endParaRPr sz="2200"/>
          </a:p>
          <a:p>
            <a:pPr indent="0" lvl="0" marL="0" rtl="0" algn="l">
              <a:spcBef>
                <a:spcPts val="0"/>
              </a:spcBef>
              <a:spcAft>
                <a:spcPts val="0"/>
              </a:spcAft>
              <a:buNone/>
            </a:pPr>
            <a:r>
              <a:rPr b="1" lang="en-US" sz="2200"/>
              <a:t>Mean (Average):</a:t>
            </a:r>
            <a:endParaRPr b="1" sz="2200"/>
          </a:p>
          <a:p>
            <a:pPr indent="0" lvl="0" marL="0" rtl="0" algn="l">
              <a:spcBef>
                <a:spcPts val="0"/>
              </a:spcBef>
              <a:spcAft>
                <a:spcPts val="0"/>
              </a:spcAft>
              <a:buNone/>
            </a:pPr>
            <a:r>
              <a:t/>
            </a:r>
            <a:endParaRPr sz="2200"/>
          </a:p>
          <a:p>
            <a:pPr indent="-368300" lvl="0" marL="457200" rtl="0" algn="l">
              <a:spcBef>
                <a:spcPts val="0"/>
              </a:spcBef>
              <a:spcAft>
                <a:spcPts val="0"/>
              </a:spcAft>
              <a:buSzPts val="2200"/>
              <a:buChar char="●"/>
            </a:pPr>
            <a:r>
              <a:rPr lang="en-US" sz="2200"/>
              <a:t>Stars_x: Average rating is 3.08, indicating a balanced distribution of ratings.</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b="1" lang="en-US" sz="2200"/>
              <a:t>Minimum (Min):</a:t>
            </a:r>
            <a:endParaRPr b="1" sz="2200"/>
          </a:p>
          <a:p>
            <a:pPr indent="0" lvl="0" marL="0" rtl="0" algn="l">
              <a:spcBef>
                <a:spcPts val="0"/>
              </a:spcBef>
              <a:spcAft>
                <a:spcPts val="0"/>
              </a:spcAft>
              <a:buNone/>
            </a:pPr>
            <a:r>
              <a:t/>
            </a:r>
            <a:endParaRPr sz="2200"/>
          </a:p>
          <a:p>
            <a:pPr indent="-317500" lvl="0" marL="457200" rtl="0" algn="l">
              <a:spcBef>
                <a:spcPts val="0"/>
              </a:spcBef>
              <a:spcAft>
                <a:spcPts val="0"/>
              </a:spcAft>
              <a:buSzPts val="1400"/>
              <a:buChar char="●"/>
            </a:pPr>
            <a:r>
              <a:rPr lang="en-US" sz="2200"/>
              <a:t>Stars_x: Lowest rating is 1, possibly indicating poor reviews</a:t>
            </a:r>
            <a:r>
              <a:rPr lang="en-US"/>
              <a:t>.</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US" sz="2200"/>
              <a:t>Standard Deviation (Std Dev):</a:t>
            </a:r>
            <a:endParaRPr b="1" sz="2200"/>
          </a:p>
          <a:p>
            <a:pPr indent="-368300" lvl="0" marL="457200" rtl="0" algn="l">
              <a:lnSpc>
                <a:spcPct val="115000"/>
              </a:lnSpc>
              <a:spcBef>
                <a:spcPts val="1200"/>
              </a:spcBef>
              <a:spcAft>
                <a:spcPts val="0"/>
              </a:spcAft>
              <a:buSzPts val="2200"/>
              <a:buChar char="●"/>
            </a:pPr>
            <a:r>
              <a:rPr lang="en-US" sz="2200"/>
              <a:t>Stars_x: High variability (1.57) in ratings, indicating diverse opinions.</a:t>
            </a:r>
            <a:endParaRPr sz="1100">
              <a:solidFill>
                <a:schemeClr val="dk1"/>
              </a:solidFill>
            </a:endParaRPr>
          </a:p>
          <a:p>
            <a:pPr indent="0" lvl="0" marL="0" rtl="0" algn="l">
              <a:spcBef>
                <a:spcPts val="1200"/>
              </a:spcBef>
              <a:spcAft>
                <a:spcPts val="0"/>
              </a:spcAft>
              <a:buNone/>
            </a:pPr>
            <a:r>
              <a:t/>
            </a:r>
            <a:endParaRPr/>
          </a:p>
        </p:txBody>
      </p:sp>
      <p:pic>
        <p:nvPicPr>
          <p:cNvPr id="178" name="Google Shape;178;g33b9ec0942d_0_71"/>
          <p:cNvPicPr preferRelativeResize="0"/>
          <p:nvPr/>
        </p:nvPicPr>
        <p:blipFill rotWithShape="1">
          <a:blip r:embed="rId4">
            <a:alphaModFix/>
          </a:blip>
          <a:srcRect b="0" l="0" r="16756" t="0"/>
          <a:stretch/>
        </p:blipFill>
        <p:spPr>
          <a:xfrm>
            <a:off x="14263075" y="7649700"/>
            <a:ext cx="7019875" cy="519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83" name="Shape 183"/>
        <p:cNvGrpSpPr/>
        <p:nvPr/>
      </p:nvGrpSpPr>
      <p:grpSpPr>
        <a:xfrm>
          <a:off x="0" y="0"/>
          <a:ext cx="0" cy="0"/>
          <a:chOff x="0" y="0"/>
          <a:chExt cx="0" cy="0"/>
        </a:xfrm>
      </p:grpSpPr>
      <p:sp>
        <p:nvSpPr>
          <p:cNvPr id="184" name="Google Shape;184;g33b9ec0942d_0_77"/>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33b9ec0942d_0_77"/>
          <p:cNvSpPr/>
          <p:nvPr/>
        </p:nvSpPr>
        <p:spPr>
          <a:xfrm>
            <a:off x="1700575" y="1008400"/>
            <a:ext cx="20985900" cy="216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Classification Metrics</a:t>
            </a:r>
            <a:endParaRPr sz="10300">
              <a:solidFill>
                <a:srgbClr val="007042"/>
              </a:solidFill>
              <a:latin typeface="Red Hat Display Black"/>
              <a:ea typeface="Red Hat Display Black"/>
              <a:cs typeface="Red Hat Display Black"/>
              <a:sym typeface="Red Hat Display Black"/>
            </a:endParaRPr>
          </a:p>
        </p:txBody>
      </p:sp>
      <p:pic>
        <p:nvPicPr>
          <p:cNvPr id="186" name="Google Shape;186;g33b9ec0942d_0_77"/>
          <p:cNvPicPr preferRelativeResize="0"/>
          <p:nvPr/>
        </p:nvPicPr>
        <p:blipFill>
          <a:blip r:embed="rId3">
            <a:alphaModFix/>
          </a:blip>
          <a:stretch>
            <a:fillRect/>
          </a:stretch>
        </p:blipFill>
        <p:spPr>
          <a:xfrm>
            <a:off x="2717800" y="3178000"/>
            <a:ext cx="16643749" cy="5488850"/>
          </a:xfrm>
          <a:prstGeom prst="rect">
            <a:avLst/>
          </a:prstGeom>
          <a:noFill/>
          <a:ln>
            <a:noFill/>
          </a:ln>
        </p:spPr>
      </p:pic>
      <p:sp>
        <p:nvSpPr>
          <p:cNvPr id="187" name="Google Shape;187;g33b9ec0942d_0_77"/>
          <p:cNvSpPr txBox="1"/>
          <p:nvPr/>
        </p:nvSpPr>
        <p:spPr>
          <a:xfrm>
            <a:off x="2717750" y="9664000"/>
            <a:ext cx="16643700" cy="2439000"/>
          </a:xfrm>
          <a:prstGeom prst="rect">
            <a:avLst/>
          </a:prstGeom>
          <a:noFill/>
          <a:ln>
            <a:noFill/>
          </a:ln>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b="1" lang="en-US" sz="2900"/>
              <a:t>High accuracy (85.92%)</a:t>
            </a:r>
            <a:r>
              <a:rPr lang="en-US" sz="2900"/>
              <a:t> → Strong overall performance.</a:t>
            </a:r>
            <a:endParaRPr sz="2900"/>
          </a:p>
          <a:p>
            <a:pPr indent="-412750" lvl="0" marL="457200" rtl="0" algn="l">
              <a:spcBef>
                <a:spcPts val="0"/>
              </a:spcBef>
              <a:spcAft>
                <a:spcPts val="0"/>
              </a:spcAft>
              <a:buSzPts val="2900"/>
              <a:buChar char="●"/>
            </a:pPr>
            <a:r>
              <a:rPr b="1" lang="en-US" sz="2900"/>
              <a:t>Class 1 (Positive) performs well</a:t>
            </a:r>
            <a:r>
              <a:rPr lang="en-US" sz="2900"/>
              <a:t> → High precision and recall.</a:t>
            </a:r>
            <a:endParaRPr sz="2900"/>
          </a:p>
          <a:p>
            <a:pPr indent="-412750" lvl="0" marL="457200" rtl="0" algn="l">
              <a:spcBef>
                <a:spcPts val="0"/>
              </a:spcBef>
              <a:spcAft>
                <a:spcPts val="0"/>
              </a:spcAft>
              <a:buSzPts val="2900"/>
              <a:buChar char="●"/>
            </a:pPr>
            <a:r>
              <a:rPr b="1" lang="en-US" sz="2900"/>
              <a:t>Class 0 (Negative) recall is lower</a:t>
            </a:r>
            <a:r>
              <a:rPr lang="en-US" sz="2900"/>
              <a:t> → Some negative cases may be misclassified.</a:t>
            </a:r>
            <a:endParaRPr sz="2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92" name="Shape 192"/>
        <p:cNvGrpSpPr/>
        <p:nvPr/>
      </p:nvGrpSpPr>
      <p:grpSpPr>
        <a:xfrm>
          <a:off x="0" y="0"/>
          <a:ext cx="0" cy="0"/>
          <a:chOff x="0" y="0"/>
          <a:chExt cx="0" cy="0"/>
        </a:xfrm>
      </p:grpSpPr>
      <p:sp>
        <p:nvSpPr>
          <p:cNvPr id="193" name="Google Shape;193;g33c0001f0a5_4_74"/>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Topic Modeling</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194" name="Google Shape;194;g33c0001f0a5_4_74"/>
          <p:cNvPicPr preferRelativeResize="0"/>
          <p:nvPr/>
        </p:nvPicPr>
        <p:blipFill>
          <a:blip r:embed="rId3">
            <a:alphaModFix/>
          </a:blip>
          <a:stretch>
            <a:fillRect/>
          </a:stretch>
        </p:blipFill>
        <p:spPr>
          <a:xfrm>
            <a:off x="4265413" y="2741550"/>
            <a:ext cx="15856200" cy="7928100"/>
          </a:xfrm>
          <a:prstGeom prst="rect">
            <a:avLst/>
          </a:prstGeom>
          <a:noFill/>
          <a:ln>
            <a:noFill/>
          </a:ln>
        </p:spPr>
      </p:pic>
      <p:sp>
        <p:nvSpPr>
          <p:cNvPr id="195" name="Google Shape;195;g33c0001f0a5_4_74"/>
          <p:cNvSpPr txBox="1"/>
          <p:nvPr/>
        </p:nvSpPr>
        <p:spPr>
          <a:xfrm>
            <a:off x="2261713" y="11175800"/>
            <a:ext cx="19863600" cy="18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t>We used </a:t>
            </a:r>
            <a:r>
              <a:rPr b="1" lang="en-US" sz="4400"/>
              <a:t>BERTopic</a:t>
            </a:r>
            <a:r>
              <a:rPr lang="en-US" sz="4400"/>
              <a:t> to identify some common </a:t>
            </a:r>
            <a:r>
              <a:rPr b="1" lang="en-US" sz="4400"/>
              <a:t>strengths</a:t>
            </a:r>
            <a:r>
              <a:rPr lang="en-US" sz="4400"/>
              <a:t> and </a:t>
            </a:r>
            <a:r>
              <a:rPr b="1" lang="en-US" sz="4400"/>
              <a:t>weaknesses</a:t>
            </a:r>
            <a:r>
              <a:rPr lang="en-US" sz="4400"/>
              <a:t> among Starbucks cafes. This should provide </a:t>
            </a:r>
            <a:r>
              <a:rPr b="1" lang="en-US" sz="4400"/>
              <a:t>insight</a:t>
            </a:r>
            <a:r>
              <a:rPr lang="en-US" sz="4400"/>
              <a:t> and </a:t>
            </a:r>
            <a:r>
              <a:rPr b="1" lang="en-US" sz="4400"/>
              <a:t>direction</a:t>
            </a:r>
            <a:r>
              <a:rPr lang="en-US" sz="4400"/>
              <a:t> on addressing the problems that are leading to the decline in customer sentiment.</a:t>
            </a:r>
            <a:endParaRPr sz="4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00" name="Shape 200"/>
        <p:cNvGrpSpPr/>
        <p:nvPr/>
      </p:nvGrpSpPr>
      <p:grpSpPr>
        <a:xfrm>
          <a:off x="0" y="0"/>
          <a:ext cx="0" cy="0"/>
          <a:chOff x="0" y="0"/>
          <a:chExt cx="0" cy="0"/>
        </a:xfrm>
      </p:grpSpPr>
      <p:sp>
        <p:nvSpPr>
          <p:cNvPr id="201" name="Google Shape;201;g33c2234718a_0_0"/>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Topic Modeling</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202" name="Google Shape;202;g33c2234718a_0_0"/>
          <p:cNvPicPr preferRelativeResize="0"/>
          <p:nvPr/>
        </p:nvPicPr>
        <p:blipFill rotWithShape="1">
          <a:blip r:embed="rId3">
            <a:alphaModFix/>
          </a:blip>
          <a:srcRect b="0" l="0" r="25144" t="0"/>
          <a:stretch/>
        </p:blipFill>
        <p:spPr>
          <a:xfrm>
            <a:off x="10283950" y="1008400"/>
            <a:ext cx="12793416" cy="12305000"/>
          </a:xfrm>
          <a:prstGeom prst="rect">
            <a:avLst/>
          </a:prstGeom>
          <a:noFill/>
          <a:ln>
            <a:noFill/>
          </a:ln>
        </p:spPr>
      </p:pic>
      <p:pic>
        <p:nvPicPr>
          <p:cNvPr id="203" name="Google Shape;203;g33c2234718a_0_0"/>
          <p:cNvPicPr preferRelativeResize="0"/>
          <p:nvPr/>
        </p:nvPicPr>
        <p:blipFill>
          <a:blip r:embed="rId4">
            <a:alphaModFix/>
          </a:blip>
          <a:stretch>
            <a:fillRect/>
          </a:stretch>
        </p:blipFill>
        <p:spPr>
          <a:xfrm>
            <a:off x="1921275" y="2333925"/>
            <a:ext cx="6712800" cy="3578425"/>
          </a:xfrm>
          <a:prstGeom prst="rect">
            <a:avLst/>
          </a:prstGeom>
          <a:noFill/>
          <a:ln>
            <a:noFill/>
          </a:ln>
        </p:spPr>
      </p:pic>
      <p:sp>
        <p:nvSpPr>
          <p:cNvPr id="204" name="Google Shape;204;g33c2234718a_0_0"/>
          <p:cNvSpPr txBox="1"/>
          <p:nvPr/>
        </p:nvSpPr>
        <p:spPr>
          <a:xfrm>
            <a:off x="1921275" y="6114700"/>
            <a:ext cx="8146800" cy="57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t>Most frequent topics in:</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lang="en-US" sz="4400"/>
              <a:t>5 star reviews: </a:t>
            </a:r>
            <a:endParaRPr sz="4400"/>
          </a:p>
          <a:p>
            <a:pPr indent="-508000" lvl="0" marL="457200" rtl="0" algn="l">
              <a:spcBef>
                <a:spcPts val="0"/>
              </a:spcBef>
              <a:spcAft>
                <a:spcPts val="0"/>
              </a:spcAft>
              <a:buSzPts val="4400"/>
              <a:buChar char="●"/>
            </a:pPr>
            <a:r>
              <a:rPr lang="en-US" sz="4400"/>
              <a:t>Friendly </a:t>
            </a:r>
            <a:r>
              <a:rPr lang="en-US" sz="4400"/>
              <a:t>baristas</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lang="en-US" sz="4400"/>
              <a:t>3 &amp; 4 star reviews:</a:t>
            </a:r>
            <a:endParaRPr sz="4400"/>
          </a:p>
          <a:p>
            <a:pPr indent="-508000" lvl="0" marL="457200" rtl="0" algn="l">
              <a:spcBef>
                <a:spcPts val="0"/>
              </a:spcBef>
              <a:spcAft>
                <a:spcPts val="0"/>
              </a:spcAft>
              <a:buSzPts val="4400"/>
              <a:buChar char="●"/>
            </a:pPr>
            <a:r>
              <a:rPr lang="en-US" sz="4400"/>
              <a:t>Bad parking</a:t>
            </a:r>
            <a:endParaRPr sz="4400"/>
          </a:p>
          <a:p>
            <a:pPr indent="0" lvl="0" marL="457200" rtl="0" algn="l">
              <a:spcBef>
                <a:spcPts val="0"/>
              </a:spcBef>
              <a:spcAft>
                <a:spcPts val="0"/>
              </a:spcAft>
              <a:buNone/>
            </a:pPr>
            <a:r>
              <a:t/>
            </a:r>
            <a:endParaRPr sz="4400"/>
          </a:p>
          <a:p>
            <a:pPr indent="0" lvl="0" marL="0" rtl="0" algn="l">
              <a:spcBef>
                <a:spcPts val="0"/>
              </a:spcBef>
              <a:spcAft>
                <a:spcPts val="0"/>
              </a:spcAft>
              <a:buNone/>
            </a:pPr>
            <a:r>
              <a:rPr lang="en-US" sz="4400"/>
              <a:t>1 star reviews: </a:t>
            </a:r>
            <a:endParaRPr sz="4400"/>
          </a:p>
          <a:p>
            <a:pPr indent="-508000" lvl="0" marL="457200" rtl="0" algn="l">
              <a:spcBef>
                <a:spcPts val="0"/>
              </a:spcBef>
              <a:spcAft>
                <a:spcPts val="0"/>
              </a:spcAft>
              <a:buSzPts val="4400"/>
              <a:buChar char="●"/>
            </a:pPr>
            <a:r>
              <a:rPr lang="en-US" sz="4400"/>
              <a:t>Dirty bathrooms, dirty cafe</a:t>
            </a:r>
            <a:endParaRPr sz="4400"/>
          </a:p>
          <a:p>
            <a:pPr indent="-508000" lvl="0" marL="457200" rtl="0" algn="l">
              <a:spcBef>
                <a:spcPts val="0"/>
              </a:spcBef>
              <a:spcAft>
                <a:spcPts val="0"/>
              </a:spcAft>
              <a:buSzPts val="4400"/>
              <a:buChar char="●"/>
            </a:pPr>
            <a:r>
              <a:rPr lang="en-US" sz="4400"/>
              <a:t>Cafe closed</a:t>
            </a:r>
            <a:endParaRPr sz="4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09" name="Shape 209"/>
        <p:cNvGrpSpPr/>
        <p:nvPr/>
      </p:nvGrpSpPr>
      <p:grpSpPr>
        <a:xfrm>
          <a:off x="0" y="0"/>
          <a:ext cx="0" cy="0"/>
          <a:chOff x="0" y="0"/>
          <a:chExt cx="0" cy="0"/>
        </a:xfrm>
      </p:grpSpPr>
      <p:sp>
        <p:nvSpPr>
          <p:cNvPr id="210" name="Google Shape;210;g33c0001f0a5_4_83"/>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7042"/>
              </a:buClr>
              <a:buSzPts val="12800"/>
              <a:buFont typeface="Red Hat Display Black"/>
              <a:buNone/>
            </a:pPr>
            <a:r>
              <a:rPr b="1" lang="en-US" sz="7600">
                <a:solidFill>
                  <a:srgbClr val="007042"/>
                </a:solidFill>
              </a:rPr>
              <a:t>Topic Modeling</a:t>
            </a:r>
            <a:endParaRPr sz="7600">
              <a:solidFill>
                <a:srgbClr val="007042"/>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211" name="Google Shape;211;g33c0001f0a5_4_83"/>
          <p:cNvSpPr txBox="1"/>
          <p:nvPr/>
        </p:nvSpPr>
        <p:spPr>
          <a:xfrm>
            <a:off x="1982550" y="3262775"/>
            <a:ext cx="20985900" cy="93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400"/>
              <a:t>Review snippets that are representative of the most notable topics:</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b="1" lang="en-US" sz="4400"/>
              <a:t>Topic 3:</a:t>
            </a:r>
            <a:r>
              <a:rPr lang="en-US" sz="4400"/>
              <a:t> “Place is dirty. Tables and chairs and floors dirty, makes you wonder about food and drinks. Bathroom was filthy also. Pretty gross.Will definitely visit a different location (of the hundreds around).”</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b="1" lang="en-US" sz="4400"/>
              <a:t>Topic 4: </a:t>
            </a:r>
            <a:r>
              <a:rPr lang="en-US" sz="4400"/>
              <a:t>“That parking lot is a NIGHTMARE! I would never park in there because the drive thru line is so long that you would never be able to back out of the parking spots. Sometimes the line will be so long coming from two different entries into the parking lot that street traffic will be backed up. I usually park across the street and walk there so I don't get trapped.”</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rPr lang="en-US" sz="4400"/>
              <a:t>Based on the insights from these topics, </a:t>
            </a:r>
            <a:r>
              <a:rPr b="1" lang="en-US" sz="4400"/>
              <a:t>improving</a:t>
            </a:r>
            <a:r>
              <a:rPr lang="en-US" sz="4400"/>
              <a:t> the </a:t>
            </a:r>
            <a:r>
              <a:rPr b="1" lang="en-US" sz="4400"/>
              <a:t>on-premises </a:t>
            </a:r>
            <a:r>
              <a:rPr b="1" lang="en-US" sz="4400"/>
              <a:t>cleanliness</a:t>
            </a:r>
            <a:r>
              <a:rPr lang="en-US" sz="4400"/>
              <a:t> and </a:t>
            </a:r>
            <a:r>
              <a:rPr b="1" lang="en-US" sz="4400"/>
              <a:t>alleviating parking congestion</a:t>
            </a:r>
            <a:r>
              <a:rPr lang="en-US" sz="4400"/>
              <a:t> are crucial to improving sentiment.</a:t>
            </a:r>
            <a:endParaRPr sz="4400"/>
          </a:p>
          <a:p>
            <a:pPr indent="0" lvl="0" marL="0" rtl="0" algn="l">
              <a:spcBef>
                <a:spcPts val="0"/>
              </a:spcBef>
              <a:spcAft>
                <a:spcPts val="0"/>
              </a:spcAft>
              <a:buNone/>
            </a:pPr>
            <a:r>
              <a:t/>
            </a:r>
            <a:endParaRPr sz="4400"/>
          </a:p>
          <a:p>
            <a:pPr indent="0" lvl="0" marL="0" rtl="0" algn="l">
              <a:spcBef>
                <a:spcPts val="0"/>
              </a:spcBef>
              <a:spcAft>
                <a:spcPts val="0"/>
              </a:spcAft>
              <a:buNone/>
            </a:pPr>
            <a:r>
              <a:t/>
            </a:r>
            <a:endParaRPr sz="4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6" name="Shape 216"/>
        <p:cNvGrpSpPr/>
        <p:nvPr/>
      </p:nvGrpSpPr>
      <p:grpSpPr>
        <a:xfrm>
          <a:off x="0" y="0"/>
          <a:ext cx="0" cy="0"/>
          <a:chOff x="0" y="0"/>
          <a:chExt cx="0" cy="0"/>
        </a:xfrm>
      </p:grpSpPr>
      <p:sp>
        <p:nvSpPr>
          <p:cNvPr id="217" name="Google Shape;217;g33b9ec0942d_0_95"/>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33b9ec0942d_0_95"/>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7600">
                <a:solidFill>
                  <a:srgbClr val="007042"/>
                </a:solidFill>
              </a:rPr>
              <a:t>Correlation Analysis</a:t>
            </a:r>
            <a:endParaRPr b="1" sz="7600">
              <a:solidFill>
                <a:srgbClr val="007042"/>
              </a:solidFill>
            </a:endParaRPr>
          </a:p>
          <a:p>
            <a:pPr indent="0" lvl="0" marL="0" marR="0" rtl="0" algn="l">
              <a:lnSpc>
                <a:spcPct val="100000"/>
              </a:lnSpc>
              <a:spcBef>
                <a:spcPts val="120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219" name="Google Shape;219;g33b9ec0942d_0_95"/>
          <p:cNvPicPr preferRelativeResize="0"/>
          <p:nvPr/>
        </p:nvPicPr>
        <p:blipFill>
          <a:blip r:embed="rId3">
            <a:alphaModFix/>
          </a:blip>
          <a:stretch>
            <a:fillRect/>
          </a:stretch>
        </p:blipFill>
        <p:spPr>
          <a:xfrm>
            <a:off x="1409825" y="2863300"/>
            <a:ext cx="10681275" cy="8740875"/>
          </a:xfrm>
          <a:prstGeom prst="rect">
            <a:avLst/>
          </a:prstGeom>
          <a:noFill/>
          <a:ln>
            <a:noFill/>
          </a:ln>
        </p:spPr>
      </p:pic>
      <p:sp>
        <p:nvSpPr>
          <p:cNvPr id="220" name="Google Shape;220;g33b9ec0942d_0_95"/>
          <p:cNvSpPr txBox="1"/>
          <p:nvPr/>
        </p:nvSpPr>
        <p:spPr>
          <a:xfrm>
            <a:off x="12592925" y="1296450"/>
            <a:ext cx="11445900" cy="1066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t>Correlation Analysis heatmap</a:t>
            </a:r>
            <a:r>
              <a:rPr lang="en-US" sz="2600"/>
              <a:t> shows the relationship between </a:t>
            </a:r>
            <a:r>
              <a:rPr b="1" lang="en-US" sz="2600"/>
              <a:t>star ratings (`stars_x`) and sentiment scores (`sentiment`). </a:t>
            </a:r>
            <a:endParaRPr b="1" sz="2600"/>
          </a:p>
          <a:p>
            <a:pPr indent="0" lvl="0" marL="0" rtl="0" algn="l">
              <a:spcBef>
                <a:spcPts val="0"/>
              </a:spcBef>
              <a:spcAft>
                <a:spcPts val="0"/>
              </a:spcAft>
              <a:buNone/>
            </a:pPr>
            <a:r>
              <a:t/>
            </a:r>
            <a:endParaRPr sz="2600"/>
          </a:p>
          <a:p>
            <a:pPr indent="0" lvl="0" marL="0" rtl="0" algn="l">
              <a:spcBef>
                <a:spcPts val="0"/>
              </a:spcBef>
              <a:spcAft>
                <a:spcPts val="0"/>
              </a:spcAft>
              <a:buNone/>
            </a:pPr>
            <a:r>
              <a:rPr b="1" lang="en-US" sz="2600"/>
              <a:t>1. Correlation of 0.65  </a:t>
            </a:r>
            <a:br>
              <a:rPr b="1" lang="en-US" sz="2600"/>
            </a:br>
            <a:endParaRPr b="1" sz="2600"/>
          </a:p>
          <a:p>
            <a:pPr indent="-393700" lvl="0" marL="457200" rtl="0" algn="l">
              <a:spcBef>
                <a:spcPts val="0"/>
              </a:spcBef>
              <a:spcAft>
                <a:spcPts val="0"/>
              </a:spcAft>
              <a:buSzPts val="2600"/>
              <a:buChar char="●"/>
            </a:pPr>
            <a:r>
              <a:rPr lang="en-US" sz="2600"/>
              <a:t>A score of 0.65 means that </a:t>
            </a:r>
            <a:r>
              <a:rPr b="1" lang="en-US" sz="2600"/>
              <a:t>higher sentiment</a:t>
            </a:r>
            <a:r>
              <a:rPr lang="en-US" sz="2600"/>
              <a:t> usually leads to </a:t>
            </a:r>
            <a:r>
              <a:rPr b="1" lang="en-US" sz="2600"/>
              <a:t>higher star ratings.  </a:t>
            </a:r>
            <a:endParaRPr b="1" sz="2600"/>
          </a:p>
          <a:p>
            <a:pPr indent="-393700" lvl="0" marL="457200" rtl="0" algn="l">
              <a:spcBef>
                <a:spcPts val="0"/>
              </a:spcBef>
              <a:spcAft>
                <a:spcPts val="0"/>
              </a:spcAft>
              <a:buSzPts val="2600"/>
              <a:buChar char="●"/>
            </a:pPr>
            <a:r>
              <a:rPr lang="en-US" sz="2600"/>
              <a:t>People tend to give </a:t>
            </a:r>
            <a:r>
              <a:rPr b="1" lang="en-US" sz="2600"/>
              <a:t>better ratings</a:t>
            </a:r>
            <a:r>
              <a:rPr lang="en-US" sz="2600"/>
              <a:t> when they </a:t>
            </a:r>
            <a:r>
              <a:rPr b="1" lang="en-US" sz="2600"/>
              <a:t>express more positive emotions.</a:t>
            </a:r>
            <a:endParaRPr b="1" sz="2600"/>
          </a:p>
          <a:p>
            <a:pPr indent="0" lvl="0" marL="0" rtl="0" algn="l">
              <a:spcBef>
                <a:spcPts val="0"/>
              </a:spcBef>
              <a:spcAft>
                <a:spcPts val="0"/>
              </a:spcAft>
              <a:buNone/>
            </a:pPr>
            <a:r>
              <a:t/>
            </a:r>
            <a:endParaRPr b="1" sz="2600"/>
          </a:p>
          <a:p>
            <a:pPr indent="0" lvl="0" marL="0" rtl="0" algn="l">
              <a:spcBef>
                <a:spcPts val="0"/>
              </a:spcBef>
              <a:spcAft>
                <a:spcPts val="0"/>
              </a:spcAft>
              <a:buNone/>
            </a:pPr>
            <a:r>
              <a:rPr b="1" lang="en-US" sz="2600"/>
              <a:t>2. Not a Perfect Correlation</a:t>
            </a:r>
            <a:br>
              <a:rPr b="1" lang="en-US" sz="2600"/>
            </a:br>
            <a:r>
              <a:rPr b="1" lang="en-US" sz="2600"/>
              <a:t>  </a:t>
            </a:r>
            <a:endParaRPr b="1" sz="2600"/>
          </a:p>
          <a:p>
            <a:pPr indent="-393700" lvl="0" marL="457200" rtl="0" algn="l">
              <a:spcBef>
                <a:spcPts val="0"/>
              </a:spcBef>
              <a:spcAft>
                <a:spcPts val="0"/>
              </a:spcAft>
              <a:buSzPts val="2600"/>
              <a:buChar char="●"/>
            </a:pPr>
            <a:r>
              <a:rPr lang="en-US" sz="2600"/>
              <a:t>Sentiment doesn’t fully determine ratings.  </a:t>
            </a:r>
            <a:endParaRPr sz="2600"/>
          </a:p>
          <a:p>
            <a:pPr indent="-393700" lvl="0" marL="457200" rtl="0" algn="l">
              <a:spcBef>
                <a:spcPts val="0"/>
              </a:spcBef>
              <a:spcAft>
                <a:spcPts val="0"/>
              </a:spcAft>
              <a:buSzPts val="2600"/>
              <a:buChar char="●"/>
            </a:pPr>
            <a:r>
              <a:rPr lang="en-US" sz="2600"/>
              <a:t>Some reviews may have </a:t>
            </a:r>
            <a:r>
              <a:rPr b="1" lang="en-US" sz="2600"/>
              <a:t>positive words </a:t>
            </a:r>
            <a:r>
              <a:rPr lang="en-US" sz="2600"/>
              <a:t>but still </a:t>
            </a:r>
            <a:r>
              <a:rPr b="1" lang="en-US" sz="2600"/>
              <a:t>get low star ratings </a:t>
            </a:r>
            <a:r>
              <a:rPr lang="en-US" sz="2600"/>
              <a:t>because of other factors (like price, service, or expectations).</a:t>
            </a:r>
            <a:endParaRPr sz="2600"/>
          </a:p>
          <a:p>
            <a:pPr indent="0" lvl="0" marL="0" rtl="0" algn="l">
              <a:spcBef>
                <a:spcPts val="0"/>
              </a:spcBef>
              <a:spcAft>
                <a:spcPts val="0"/>
              </a:spcAft>
              <a:buNone/>
            </a:pPr>
            <a:r>
              <a:t/>
            </a:r>
            <a:endParaRPr b="1" sz="2600"/>
          </a:p>
          <a:p>
            <a:pPr indent="0" lvl="0" marL="0" rtl="0" algn="l">
              <a:spcBef>
                <a:spcPts val="0"/>
              </a:spcBef>
              <a:spcAft>
                <a:spcPts val="0"/>
              </a:spcAft>
              <a:buNone/>
            </a:pPr>
            <a:r>
              <a:rPr lang="en-US" sz="2600"/>
              <a:t>3. </a:t>
            </a:r>
            <a:r>
              <a:rPr b="1" lang="en-US" sz="2600"/>
              <a:t>Business Recommendations:</a:t>
            </a:r>
            <a:r>
              <a:rPr lang="en-US" sz="2600"/>
              <a:t>  </a:t>
            </a:r>
            <a:endParaRPr sz="2600"/>
          </a:p>
          <a:p>
            <a:pPr indent="0" lvl="0" marL="0" rtl="0" algn="l">
              <a:spcBef>
                <a:spcPts val="0"/>
              </a:spcBef>
              <a:spcAft>
                <a:spcPts val="0"/>
              </a:spcAft>
              <a:buNone/>
            </a:pPr>
            <a:r>
              <a:t/>
            </a:r>
            <a:endParaRPr sz="2600"/>
          </a:p>
          <a:p>
            <a:pPr indent="-393700" lvl="0" marL="457200" rtl="0" algn="l">
              <a:spcBef>
                <a:spcPts val="0"/>
              </a:spcBef>
              <a:spcAft>
                <a:spcPts val="0"/>
              </a:spcAft>
              <a:buSzPts val="2600"/>
              <a:buChar char="●"/>
            </a:pPr>
            <a:r>
              <a:rPr b="1" lang="en-US" sz="2600"/>
              <a:t>Improve customer experience → Increase positive sentiment → Higher star ratings.</a:t>
            </a:r>
            <a:r>
              <a:rPr lang="en-US" sz="2600"/>
              <a:t>  </a:t>
            </a:r>
            <a:endParaRPr sz="2600"/>
          </a:p>
          <a:p>
            <a:pPr indent="-393700" lvl="0" marL="457200" rtl="0" algn="l">
              <a:spcBef>
                <a:spcPts val="0"/>
              </a:spcBef>
              <a:spcAft>
                <a:spcPts val="0"/>
              </a:spcAft>
              <a:buSzPts val="2600"/>
              <a:buChar char="●"/>
            </a:pPr>
            <a:r>
              <a:rPr b="1" lang="en-US" sz="2600"/>
              <a:t>Monitor sentiment trends</a:t>
            </a:r>
            <a:r>
              <a:rPr lang="en-US" sz="2600"/>
              <a:t>  to identify potential dissatisfaction before it impacts overall ratings.  </a:t>
            </a:r>
            <a:endParaRPr sz="2600"/>
          </a:p>
          <a:p>
            <a:pPr indent="-393700" lvl="0" marL="457200" rtl="0" algn="l">
              <a:spcBef>
                <a:spcPts val="0"/>
              </a:spcBef>
              <a:spcAft>
                <a:spcPts val="0"/>
              </a:spcAft>
              <a:buSzPts val="2600"/>
              <a:buChar char="●"/>
            </a:pPr>
            <a:r>
              <a:rPr lang="en-US" sz="2600"/>
              <a:t>Consider </a:t>
            </a:r>
            <a:r>
              <a:rPr b="1" lang="en-US" sz="2600"/>
              <a:t>other influencing factors</a:t>
            </a:r>
            <a:r>
              <a:rPr lang="en-US" sz="2600"/>
              <a:t> beyond sentiment, such as </a:t>
            </a:r>
            <a:r>
              <a:rPr b="1" lang="en-US" sz="2600"/>
              <a:t>product quality, service, and pricing.</a:t>
            </a:r>
            <a:endParaRPr b="1" sz="2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5" name="Shape 225"/>
        <p:cNvGrpSpPr/>
        <p:nvPr/>
      </p:nvGrpSpPr>
      <p:grpSpPr>
        <a:xfrm>
          <a:off x="0" y="0"/>
          <a:ext cx="0" cy="0"/>
          <a:chOff x="0" y="0"/>
          <a:chExt cx="0" cy="0"/>
        </a:xfrm>
      </p:grpSpPr>
      <p:sp>
        <p:nvSpPr>
          <p:cNvPr id="226" name="Google Shape;226;g33b9ec0942d_0_89"/>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3b9ec0942d_0_89"/>
          <p:cNvSpPr/>
          <p:nvPr/>
        </p:nvSpPr>
        <p:spPr>
          <a:xfrm>
            <a:off x="1700575" y="143375"/>
            <a:ext cx="20985900" cy="24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7600">
                <a:solidFill>
                  <a:srgbClr val="007042"/>
                </a:solidFill>
              </a:rPr>
              <a:t>Geographic &amp; Keyword Analysis → TF-IDF vectorization</a:t>
            </a:r>
            <a:endParaRPr b="1" sz="7600">
              <a:solidFill>
                <a:srgbClr val="007042"/>
              </a:solidFill>
            </a:endParaRPr>
          </a:p>
          <a:p>
            <a:pPr indent="0" lvl="0" marL="0" marR="0" rtl="0" algn="l">
              <a:lnSpc>
                <a:spcPct val="100000"/>
              </a:lnSpc>
              <a:spcBef>
                <a:spcPts val="120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pic>
        <p:nvPicPr>
          <p:cNvPr id="228" name="Google Shape;228;g33b9ec0942d_0_89"/>
          <p:cNvPicPr preferRelativeResize="0"/>
          <p:nvPr/>
        </p:nvPicPr>
        <p:blipFill>
          <a:blip r:embed="rId3">
            <a:alphaModFix/>
          </a:blip>
          <a:stretch>
            <a:fillRect/>
          </a:stretch>
        </p:blipFill>
        <p:spPr>
          <a:xfrm>
            <a:off x="1155700" y="3037175"/>
            <a:ext cx="20059574" cy="6114799"/>
          </a:xfrm>
          <a:prstGeom prst="rect">
            <a:avLst/>
          </a:prstGeom>
          <a:noFill/>
          <a:ln>
            <a:noFill/>
          </a:ln>
        </p:spPr>
      </p:pic>
      <p:sp>
        <p:nvSpPr>
          <p:cNvPr id="229" name="Google Shape;229;g33b9ec0942d_0_89"/>
          <p:cNvSpPr txBox="1"/>
          <p:nvPr/>
        </p:nvSpPr>
        <p:spPr>
          <a:xfrm>
            <a:off x="1155700" y="9725450"/>
            <a:ext cx="21530700" cy="3465000"/>
          </a:xfrm>
          <a:prstGeom prst="rect">
            <a:avLst/>
          </a:prstGeom>
          <a:noFill/>
          <a:ln>
            <a:noFill/>
          </a:ln>
        </p:spPr>
        <p:txBody>
          <a:bodyPr anchorCtr="0" anchor="t" bIns="91425" lIns="91425" spcFirstLastPara="1" rIns="91425" wrap="square" tIns="91425">
            <a:noAutofit/>
          </a:bodyPr>
          <a:lstStyle/>
          <a:p>
            <a:pPr indent="-412750" lvl="0" marL="457200" rtl="0" algn="l">
              <a:spcBef>
                <a:spcPts val="0"/>
              </a:spcBef>
              <a:spcAft>
                <a:spcPts val="0"/>
              </a:spcAft>
              <a:buSzPts val="2900"/>
              <a:buChar char="●"/>
            </a:pPr>
            <a:r>
              <a:rPr b="1" lang="en-US" sz="2900"/>
              <a:t>Common Focus:</a:t>
            </a:r>
            <a:r>
              <a:rPr lang="en-US" sz="2900"/>
              <a:t> Starbucks, coffee, drink, service, location appear in both high and low-rated reviews.  </a:t>
            </a:r>
            <a:endParaRPr sz="2900"/>
          </a:p>
          <a:p>
            <a:pPr indent="-412750" lvl="0" marL="457200" rtl="0" algn="l">
              <a:spcBef>
                <a:spcPts val="0"/>
              </a:spcBef>
              <a:spcAft>
                <a:spcPts val="0"/>
              </a:spcAft>
              <a:buSzPts val="2900"/>
              <a:buChar char="●"/>
            </a:pPr>
            <a:r>
              <a:rPr lang="en-US" sz="2900"/>
              <a:t> </a:t>
            </a:r>
            <a:r>
              <a:rPr b="1" lang="en-US" sz="2900"/>
              <a:t>Positive Reviews:</a:t>
            </a:r>
            <a:r>
              <a:rPr lang="en-US" sz="2900"/>
              <a:t>  Highlight friendly, great, love, nice - praising service and experience.  </a:t>
            </a:r>
            <a:endParaRPr sz="2900"/>
          </a:p>
          <a:p>
            <a:pPr indent="-412750" lvl="0" marL="457200" rtl="0" algn="l">
              <a:spcBef>
                <a:spcPts val="0"/>
              </a:spcBef>
              <a:spcAft>
                <a:spcPts val="0"/>
              </a:spcAft>
              <a:buSzPts val="2900"/>
              <a:buChar char="●"/>
            </a:pPr>
            <a:r>
              <a:rPr lang="en-US" sz="2900"/>
              <a:t> </a:t>
            </a:r>
            <a:r>
              <a:rPr b="1" lang="en-US" sz="2900"/>
              <a:t>Negative Reviews: </a:t>
            </a:r>
            <a:r>
              <a:rPr lang="en-US" sz="2900"/>
              <a:t>Mention *asked, line, minutes, ordered -indicating frustration with wait times and order issues.  </a:t>
            </a:r>
            <a:endParaRPr sz="2900"/>
          </a:p>
          <a:p>
            <a:pPr indent="-412750" lvl="0" marL="457200" rtl="0" algn="l">
              <a:spcBef>
                <a:spcPts val="0"/>
              </a:spcBef>
              <a:spcAft>
                <a:spcPts val="0"/>
              </a:spcAft>
              <a:buSzPts val="2900"/>
              <a:buChar char="●"/>
            </a:pPr>
            <a:r>
              <a:rPr lang="en-US" sz="2900"/>
              <a:t> </a:t>
            </a:r>
            <a:r>
              <a:rPr b="1" lang="en-US" sz="2900"/>
              <a:t>Conclusion</a:t>
            </a:r>
            <a:r>
              <a:rPr lang="en-US" sz="2900"/>
              <a:t>: Customers appreciate </a:t>
            </a:r>
            <a:r>
              <a:rPr b="1" lang="en-US" sz="2900"/>
              <a:t>good service</a:t>
            </a:r>
            <a:r>
              <a:rPr lang="en-US" sz="2900"/>
              <a:t>, while delays, long wait times, service issues and order mistakes drive negative feedback. </a:t>
            </a:r>
            <a:endParaRPr sz="2900"/>
          </a:p>
          <a:p>
            <a:pPr indent="-412750" lvl="0" marL="457200" rtl="0" algn="l">
              <a:spcBef>
                <a:spcPts val="0"/>
              </a:spcBef>
              <a:spcAft>
                <a:spcPts val="0"/>
              </a:spcAft>
              <a:buSzPts val="2900"/>
              <a:buChar char="●"/>
            </a:pPr>
            <a:r>
              <a:rPr lang="en-US" sz="2900"/>
              <a:t> </a:t>
            </a:r>
            <a:r>
              <a:rPr b="1" lang="en-US" sz="2900"/>
              <a:t>Optimizing speed, efficiency, and customer interactions can improve overall ratings.</a:t>
            </a:r>
            <a:endParaRPr b="1" sz="2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34" name="Shape 234"/>
        <p:cNvGrpSpPr/>
        <p:nvPr/>
      </p:nvGrpSpPr>
      <p:grpSpPr>
        <a:xfrm>
          <a:off x="0" y="0"/>
          <a:ext cx="0" cy="0"/>
          <a:chOff x="0" y="0"/>
          <a:chExt cx="0" cy="0"/>
        </a:xfrm>
      </p:grpSpPr>
      <p:sp>
        <p:nvSpPr>
          <p:cNvPr id="235" name="Google Shape;235;g33b9ec0942d_0_101"/>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3b9ec0942d_0_101"/>
          <p:cNvSpPr/>
          <p:nvPr/>
        </p:nvSpPr>
        <p:spPr>
          <a:xfrm>
            <a:off x="1700563" y="1008400"/>
            <a:ext cx="20985900" cy="185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US" sz="7600">
                <a:solidFill>
                  <a:srgbClr val="007042"/>
                </a:solidFill>
              </a:rPr>
              <a:t>Recommendations &amp; Managerial Insights</a:t>
            </a:r>
            <a:endParaRPr sz="10300">
              <a:solidFill>
                <a:srgbClr val="007042"/>
              </a:solidFill>
              <a:latin typeface="Red Hat Display Black"/>
              <a:ea typeface="Red Hat Display Black"/>
              <a:cs typeface="Red Hat Display Black"/>
              <a:sym typeface="Red Hat Display Black"/>
            </a:endParaRPr>
          </a:p>
        </p:txBody>
      </p:sp>
      <p:sp>
        <p:nvSpPr>
          <p:cNvPr id="237" name="Google Shape;237;g33b9ec0942d_0_101"/>
          <p:cNvSpPr txBox="1"/>
          <p:nvPr/>
        </p:nvSpPr>
        <p:spPr>
          <a:xfrm>
            <a:off x="1905000" y="2601950"/>
            <a:ext cx="13404600" cy="87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3b9ec0942d_0_101"/>
          <p:cNvSpPr txBox="1"/>
          <p:nvPr/>
        </p:nvSpPr>
        <p:spPr>
          <a:xfrm>
            <a:off x="1700575" y="3000600"/>
            <a:ext cx="20490300" cy="9850200"/>
          </a:xfrm>
          <a:prstGeom prst="rect">
            <a:avLst/>
          </a:prstGeom>
          <a:noFill/>
          <a:ln>
            <a:noFill/>
          </a:ln>
        </p:spPr>
        <p:txBody>
          <a:bodyPr anchorCtr="0" anchor="t" bIns="91425" lIns="91425" spcFirstLastPara="1" rIns="91425" wrap="square" tIns="91425">
            <a:noAutofit/>
          </a:bodyPr>
          <a:lstStyle/>
          <a:p>
            <a:pPr indent="-558800" lvl="0" marL="457200" marR="0" rtl="0" algn="l">
              <a:lnSpc>
                <a:spcPct val="100000"/>
              </a:lnSpc>
              <a:spcBef>
                <a:spcPts val="0"/>
              </a:spcBef>
              <a:spcAft>
                <a:spcPts val="0"/>
              </a:spcAft>
              <a:buClr>
                <a:srgbClr val="1F1F1F"/>
              </a:buClr>
              <a:buSzPts val="5200"/>
              <a:buFont typeface="Roboto"/>
              <a:buChar char="●"/>
            </a:pPr>
            <a:r>
              <a:rPr lang="en-US" sz="5200">
                <a:solidFill>
                  <a:srgbClr val="1F1F1F"/>
                </a:solidFill>
                <a:latin typeface="Roboto"/>
                <a:ea typeface="Roboto"/>
                <a:cs typeface="Roboto"/>
                <a:sym typeface="Roboto"/>
              </a:rPr>
              <a:t>Identify the </a:t>
            </a:r>
            <a:r>
              <a:rPr b="1" lang="en-US" sz="5200">
                <a:solidFill>
                  <a:srgbClr val="1F1F1F"/>
                </a:solidFill>
                <a:latin typeface="Roboto"/>
                <a:ea typeface="Roboto"/>
                <a:cs typeface="Roboto"/>
                <a:sym typeface="Roboto"/>
              </a:rPr>
              <a:t>policies and procedures</a:t>
            </a:r>
            <a:r>
              <a:rPr lang="en-US" sz="5200">
                <a:solidFill>
                  <a:srgbClr val="1F1F1F"/>
                </a:solidFill>
                <a:latin typeface="Roboto"/>
                <a:ea typeface="Roboto"/>
                <a:cs typeface="Roboto"/>
                <a:sym typeface="Roboto"/>
              </a:rPr>
              <a:t> in place in high-performing markets </a:t>
            </a:r>
            <a:r>
              <a:rPr b="1" lang="en-US" sz="5200">
                <a:solidFill>
                  <a:srgbClr val="1F1F1F"/>
                </a:solidFill>
                <a:latin typeface="Roboto"/>
                <a:ea typeface="Roboto"/>
                <a:cs typeface="Roboto"/>
                <a:sym typeface="Roboto"/>
              </a:rPr>
              <a:t>regarding cleaning and parking</a:t>
            </a:r>
            <a:r>
              <a:rPr lang="en-US" sz="5200">
                <a:solidFill>
                  <a:srgbClr val="1F1F1F"/>
                </a:solidFill>
                <a:latin typeface="Roboto"/>
                <a:ea typeface="Roboto"/>
                <a:cs typeface="Roboto"/>
                <a:sym typeface="Roboto"/>
              </a:rPr>
              <a:t> </a:t>
            </a:r>
            <a:r>
              <a:rPr b="1" lang="en-US" sz="5200">
                <a:solidFill>
                  <a:srgbClr val="1F1F1F"/>
                </a:solidFill>
                <a:latin typeface="Roboto"/>
                <a:ea typeface="Roboto"/>
                <a:cs typeface="Roboto"/>
                <a:sym typeface="Roboto"/>
              </a:rPr>
              <a:t>(AZ, MO, LA)</a:t>
            </a:r>
            <a:r>
              <a:rPr lang="en-US" sz="5200">
                <a:solidFill>
                  <a:srgbClr val="1F1F1F"/>
                </a:solidFill>
                <a:latin typeface="Roboto"/>
                <a:ea typeface="Roboto"/>
                <a:cs typeface="Roboto"/>
                <a:sym typeface="Roboto"/>
              </a:rPr>
              <a:t> to the poor performing markets then begin implementing the policies that the successful markets are using in the struggling markets</a:t>
            </a:r>
            <a:endParaRPr sz="5200">
              <a:solidFill>
                <a:srgbClr val="1F1F1F"/>
              </a:solidFill>
              <a:latin typeface="Roboto"/>
              <a:ea typeface="Roboto"/>
              <a:cs typeface="Roboto"/>
              <a:sym typeface="Roboto"/>
            </a:endParaRPr>
          </a:p>
          <a:p>
            <a:pPr indent="-558800" lvl="0" marL="457200" marR="0" rtl="0" algn="l">
              <a:lnSpc>
                <a:spcPct val="100000"/>
              </a:lnSpc>
              <a:spcBef>
                <a:spcPts val="0"/>
              </a:spcBef>
              <a:spcAft>
                <a:spcPts val="0"/>
              </a:spcAft>
              <a:buClr>
                <a:srgbClr val="1F1F1F"/>
              </a:buClr>
              <a:buSzPts val="5200"/>
              <a:buFont typeface="Roboto"/>
              <a:buChar char="●"/>
            </a:pPr>
            <a:r>
              <a:rPr lang="en-US" sz="5200">
                <a:solidFill>
                  <a:srgbClr val="1F1F1F"/>
                </a:solidFill>
                <a:latin typeface="Roboto"/>
                <a:ea typeface="Roboto"/>
                <a:cs typeface="Roboto"/>
                <a:sym typeface="Roboto"/>
              </a:rPr>
              <a:t>To accomplish this, we recommend </a:t>
            </a:r>
            <a:r>
              <a:rPr b="1" lang="en-US" sz="5200">
                <a:solidFill>
                  <a:srgbClr val="1F1F1F"/>
                </a:solidFill>
                <a:latin typeface="Roboto"/>
                <a:ea typeface="Roboto"/>
                <a:cs typeface="Roboto"/>
                <a:sym typeface="Roboto"/>
              </a:rPr>
              <a:t>meeting with managers</a:t>
            </a:r>
            <a:r>
              <a:rPr lang="en-US" sz="5200">
                <a:solidFill>
                  <a:srgbClr val="1F1F1F"/>
                </a:solidFill>
                <a:latin typeface="Roboto"/>
                <a:ea typeface="Roboto"/>
                <a:cs typeface="Roboto"/>
                <a:sym typeface="Roboto"/>
              </a:rPr>
              <a:t> from the </a:t>
            </a:r>
            <a:r>
              <a:rPr b="1" lang="en-US" sz="5200">
                <a:solidFill>
                  <a:srgbClr val="1F1F1F"/>
                </a:solidFill>
                <a:latin typeface="Roboto"/>
                <a:ea typeface="Roboto"/>
                <a:cs typeface="Roboto"/>
                <a:sym typeface="Roboto"/>
              </a:rPr>
              <a:t>high-performing markets </a:t>
            </a:r>
            <a:r>
              <a:rPr lang="en-US" sz="5200">
                <a:solidFill>
                  <a:srgbClr val="1F1F1F"/>
                </a:solidFill>
                <a:latin typeface="Roboto"/>
                <a:ea typeface="Roboto"/>
                <a:cs typeface="Roboto"/>
                <a:sym typeface="Roboto"/>
              </a:rPr>
              <a:t>to gather the necessary information then put together a </a:t>
            </a:r>
            <a:r>
              <a:rPr b="1" lang="en-US" sz="5200">
                <a:solidFill>
                  <a:srgbClr val="1F1F1F"/>
                </a:solidFill>
                <a:latin typeface="Roboto"/>
                <a:ea typeface="Roboto"/>
                <a:cs typeface="Roboto"/>
                <a:sym typeface="Roboto"/>
              </a:rPr>
              <a:t>support team</a:t>
            </a:r>
            <a:r>
              <a:rPr lang="en-US" sz="5200">
                <a:solidFill>
                  <a:srgbClr val="1F1F1F"/>
                </a:solidFill>
                <a:latin typeface="Roboto"/>
                <a:ea typeface="Roboto"/>
                <a:cs typeface="Roboto"/>
                <a:sym typeface="Roboto"/>
              </a:rPr>
              <a:t> that can work with managers in struggling markets using this information to ensure that the new policies are being implemented effectively</a:t>
            </a:r>
            <a:endParaRPr sz="5200">
              <a:solidFill>
                <a:srgbClr val="1F1F1F"/>
              </a:solidFill>
              <a:latin typeface="Roboto"/>
              <a:ea typeface="Roboto"/>
              <a:cs typeface="Roboto"/>
              <a:sym typeface="Roboto"/>
            </a:endParaRPr>
          </a:p>
          <a:p>
            <a:pPr indent="-558800" lvl="0" marL="457200" marR="0" rtl="0" algn="l">
              <a:lnSpc>
                <a:spcPct val="100000"/>
              </a:lnSpc>
              <a:spcBef>
                <a:spcPts val="0"/>
              </a:spcBef>
              <a:spcAft>
                <a:spcPts val="0"/>
              </a:spcAft>
              <a:buClr>
                <a:srgbClr val="1F1F1F"/>
              </a:buClr>
              <a:buSzPts val="5200"/>
              <a:buFont typeface="Roboto"/>
              <a:buChar char="●"/>
            </a:pPr>
            <a:r>
              <a:rPr lang="en-US" sz="5200">
                <a:solidFill>
                  <a:srgbClr val="1F1F1F"/>
                </a:solidFill>
                <a:latin typeface="Roboto"/>
                <a:ea typeface="Roboto"/>
                <a:cs typeface="Roboto"/>
                <a:sym typeface="Roboto"/>
              </a:rPr>
              <a:t>Continue to gather </a:t>
            </a:r>
            <a:r>
              <a:rPr b="1" lang="en-US" sz="5200">
                <a:solidFill>
                  <a:srgbClr val="1F1F1F"/>
                </a:solidFill>
                <a:latin typeface="Roboto"/>
                <a:ea typeface="Roboto"/>
                <a:cs typeface="Roboto"/>
                <a:sym typeface="Roboto"/>
              </a:rPr>
              <a:t>Yelp review data, review scores, and review text</a:t>
            </a:r>
            <a:r>
              <a:rPr lang="en-US" sz="5200">
                <a:solidFill>
                  <a:srgbClr val="1F1F1F"/>
                </a:solidFill>
                <a:latin typeface="Roboto"/>
                <a:ea typeface="Roboto"/>
                <a:cs typeface="Roboto"/>
                <a:sym typeface="Roboto"/>
              </a:rPr>
              <a:t> to</a:t>
            </a:r>
            <a:r>
              <a:rPr lang="en-US" sz="5200">
                <a:solidFill>
                  <a:srgbClr val="1F1F1F"/>
                </a:solidFill>
                <a:latin typeface="Roboto"/>
                <a:ea typeface="Roboto"/>
                <a:cs typeface="Roboto"/>
                <a:sym typeface="Roboto"/>
              </a:rPr>
              <a:t> </a:t>
            </a:r>
            <a:r>
              <a:rPr b="1" lang="en-US" sz="5200">
                <a:solidFill>
                  <a:srgbClr val="1F1F1F"/>
                </a:solidFill>
                <a:latin typeface="Roboto"/>
                <a:ea typeface="Roboto"/>
                <a:cs typeface="Roboto"/>
                <a:sym typeface="Roboto"/>
              </a:rPr>
              <a:t>monitor shifts</a:t>
            </a:r>
            <a:r>
              <a:rPr lang="en-US" sz="5200">
                <a:solidFill>
                  <a:srgbClr val="1F1F1F"/>
                </a:solidFill>
                <a:latin typeface="Roboto"/>
                <a:ea typeface="Roboto"/>
                <a:cs typeface="Roboto"/>
                <a:sym typeface="Roboto"/>
              </a:rPr>
              <a:t> in sentiment and </a:t>
            </a:r>
            <a:r>
              <a:rPr lang="en-US" sz="5200">
                <a:solidFill>
                  <a:srgbClr val="1F1F1F"/>
                </a:solidFill>
                <a:latin typeface="Roboto"/>
                <a:ea typeface="Roboto"/>
                <a:cs typeface="Roboto"/>
                <a:sym typeface="Roboto"/>
              </a:rPr>
              <a:t>gauge success of policy changes</a:t>
            </a:r>
            <a:endParaRPr sz="5200">
              <a:solidFill>
                <a:srgbClr val="1F1F1F"/>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43" name="Shape 243"/>
        <p:cNvGrpSpPr/>
        <p:nvPr/>
      </p:nvGrpSpPr>
      <p:grpSpPr>
        <a:xfrm>
          <a:off x="0" y="0"/>
          <a:ext cx="0" cy="0"/>
          <a:chOff x="0" y="0"/>
          <a:chExt cx="0" cy="0"/>
        </a:xfrm>
      </p:grpSpPr>
      <p:sp>
        <p:nvSpPr>
          <p:cNvPr id="244" name="Google Shape;244;g33b9ec0942d_0_107"/>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3b9ec0942d_0_107"/>
          <p:cNvSpPr/>
          <p:nvPr/>
        </p:nvSpPr>
        <p:spPr>
          <a:xfrm>
            <a:off x="1780363" y="1922800"/>
            <a:ext cx="20985900" cy="185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7600">
                <a:solidFill>
                  <a:srgbClr val="007042"/>
                </a:solidFill>
              </a:rPr>
              <a:t>Conclusion</a:t>
            </a:r>
            <a:endParaRPr b="1" sz="7600">
              <a:solidFill>
                <a:srgbClr val="007042"/>
              </a:solidFill>
            </a:endParaRPr>
          </a:p>
          <a:p>
            <a:pPr indent="0" lvl="0" marL="0" marR="0" rtl="0" algn="l">
              <a:lnSpc>
                <a:spcPct val="100000"/>
              </a:lnSpc>
              <a:spcBef>
                <a:spcPts val="1200"/>
              </a:spcBef>
              <a:spcAft>
                <a:spcPts val="0"/>
              </a:spcAft>
              <a:buNone/>
            </a:pPr>
            <a:r>
              <a:t/>
            </a:r>
            <a:endParaRPr sz="10300">
              <a:solidFill>
                <a:srgbClr val="007042"/>
              </a:solidFill>
              <a:latin typeface="Red Hat Display Black"/>
              <a:ea typeface="Red Hat Display Black"/>
              <a:cs typeface="Red Hat Display Black"/>
              <a:sym typeface="Red Hat Display Black"/>
            </a:endParaRPr>
          </a:p>
        </p:txBody>
      </p:sp>
      <p:sp>
        <p:nvSpPr>
          <p:cNvPr id="246" name="Google Shape;246;g33b9ec0942d_0_107"/>
          <p:cNvSpPr txBox="1"/>
          <p:nvPr/>
        </p:nvSpPr>
        <p:spPr>
          <a:xfrm>
            <a:off x="1700575" y="3777700"/>
            <a:ext cx="21145500" cy="4724100"/>
          </a:xfrm>
          <a:prstGeom prst="rect">
            <a:avLst/>
          </a:prstGeom>
          <a:noFill/>
          <a:ln>
            <a:noFill/>
          </a:ln>
        </p:spPr>
        <p:txBody>
          <a:bodyPr anchorCtr="0" anchor="t" bIns="91425" lIns="91425" spcFirstLastPara="1" rIns="91425" wrap="square" tIns="91425">
            <a:spAutoFit/>
          </a:bodyPr>
          <a:lstStyle/>
          <a:p>
            <a:pPr indent="-558800" lvl="0" marL="457200" rtl="0" algn="l">
              <a:spcBef>
                <a:spcPts val="0"/>
              </a:spcBef>
              <a:spcAft>
                <a:spcPts val="0"/>
              </a:spcAft>
              <a:buClr>
                <a:srgbClr val="1F1F1F"/>
              </a:buClr>
              <a:buSzPts val="5200"/>
              <a:buFont typeface="Roboto"/>
              <a:buChar char="●"/>
            </a:pPr>
            <a:r>
              <a:rPr lang="en-US" sz="5200">
                <a:solidFill>
                  <a:srgbClr val="1F1F1F"/>
                </a:solidFill>
                <a:latin typeface="Roboto"/>
                <a:ea typeface="Roboto"/>
                <a:cs typeface="Roboto"/>
                <a:sym typeface="Roboto"/>
              </a:rPr>
              <a:t>We believe that this data, our analysis, and recommendations based on our analysis can help Starbucks </a:t>
            </a:r>
            <a:r>
              <a:rPr b="1" lang="en-US" sz="5200">
                <a:solidFill>
                  <a:srgbClr val="1F1F1F"/>
                </a:solidFill>
                <a:latin typeface="Roboto"/>
                <a:ea typeface="Roboto"/>
                <a:cs typeface="Roboto"/>
                <a:sym typeface="Roboto"/>
              </a:rPr>
              <a:t>strengthen its relationship with its customers.</a:t>
            </a:r>
            <a:endParaRPr b="1" sz="5200">
              <a:solidFill>
                <a:srgbClr val="1F1F1F"/>
              </a:solidFill>
              <a:latin typeface="Roboto"/>
              <a:ea typeface="Roboto"/>
              <a:cs typeface="Roboto"/>
              <a:sym typeface="Roboto"/>
            </a:endParaRPr>
          </a:p>
          <a:p>
            <a:pPr indent="-558800" lvl="0" marL="457200" rtl="0" algn="l">
              <a:spcBef>
                <a:spcPts val="0"/>
              </a:spcBef>
              <a:spcAft>
                <a:spcPts val="0"/>
              </a:spcAft>
              <a:buClr>
                <a:srgbClr val="1F1F1F"/>
              </a:buClr>
              <a:buSzPts val="5200"/>
              <a:buFont typeface="Roboto"/>
              <a:buChar char="●"/>
            </a:pPr>
            <a:r>
              <a:rPr lang="en-US" sz="5200">
                <a:solidFill>
                  <a:srgbClr val="1F1F1F"/>
                </a:solidFill>
                <a:latin typeface="Roboto"/>
                <a:ea typeface="Roboto"/>
                <a:cs typeface="Roboto"/>
                <a:sym typeface="Roboto"/>
              </a:rPr>
              <a:t>In turn, this will help maintain </a:t>
            </a:r>
            <a:r>
              <a:rPr b="1" lang="en-US" sz="5200">
                <a:solidFill>
                  <a:srgbClr val="1F1F1F"/>
                </a:solidFill>
                <a:latin typeface="Roboto"/>
                <a:ea typeface="Roboto"/>
                <a:cs typeface="Roboto"/>
                <a:sym typeface="Roboto"/>
              </a:rPr>
              <a:t>strong customer loyalty </a:t>
            </a:r>
            <a:r>
              <a:rPr lang="en-US" sz="5200">
                <a:solidFill>
                  <a:srgbClr val="1F1F1F"/>
                </a:solidFill>
                <a:latin typeface="Roboto"/>
                <a:ea typeface="Roboto"/>
                <a:cs typeface="Roboto"/>
                <a:sym typeface="Roboto"/>
              </a:rPr>
              <a:t>and ultimately help sustain </a:t>
            </a:r>
            <a:r>
              <a:rPr b="1" lang="en-US" sz="5200">
                <a:solidFill>
                  <a:srgbClr val="1F1F1F"/>
                </a:solidFill>
                <a:latin typeface="Roboto"/>
                <a:ea typeface="Roboto"/>
                <a:cs typeface="Roboto"/>
                <a:sym typeface="Roboto"/>
              </a:rPr>
              <a:t>strong profitability. </a:t>
            </a:r>
            <a:endParaRPr b="1" sz="5200">
              <a:solidFill>
                <a:srgbClr val="1F1F1F"/>
              </a:solidFill>
              <a:latin typeface="Roboto"/>
              <a:ea typeface="Roboto"/>
              <a:cs typeface="Roboto"/>
              <a:sym typeface="Roboto"/>
            </a:endParaRPr>
          </a:p>
          <a:p>
            <a:pPr indent="0" lvl="0" marL="50800" marR="12700" rtl="0" algn="l">
              <a:lnSpc>
                <a:spcPct val="115000"/>
              </a:lnSpc>
              <a:spcBef>
                <a:spcPts val="100"/>
              </a:spcBef>
              <a:spcAft>
                <a:spcPts val="0"/>
              </a:spcAft>
              <a:buNone/>
            </a:pPr>
            <a:r>
              <a:t/>
            </a:r>
            <a:endParaRPr sz="1000">
              <a:solidFill>
                <a:srgbClr val="1F1F1F"/>
              </a:solidFill>
              <a:latin typeface="Roboto"/>
              <a:ea typeface="Roboto"/>
              <a:cs typeface="Roboto"/>
              <a:sym typeface="Roboto"/>
            </a:endParaRPr>
          </a:p>
          <a:p>
            <a:pPr indent="0" lvl="0" marL="76200" marR="76200" rtl="0" algn="l">
              <a:lnSpc>
                <a:spcPct val="115000"/>
              </a:lnSpc>
              <a:spcBef>
                <a:spcPts val="0"/>
              </a:spcBef>
              <a:spcAft>
                <a:spcPts val="0"/>
              </a:spcAft>
              <a:buNone/>
            </a:pPr>
            <a:r>
              <a:t/>
            </a:r>
            <a:endParaRPr sz="1050">
              <a:solidFill>
                <a:srgbClr val="1F1F1F"/>
              </a:solidFill>
              <a:highlight>
                <a:srgbClr val="FFFFFF"/>
              </a:highlight>
              <a:latin typeface="Roboto"/>
              <a:ea typeface="Roboto"/>
              <a:cs typeface="Roboto"/>
              <a:sym typeface="Roboto"/>
            </a:endParaRPr>
          </a:p>
          <a:p>
            <a:pPr indent="0" lvl="0" marL="76200" marR="76200" rtl="0" algn="l">
              <a:lnSpc>
                <a:spcPct val="115000"/>
              </a:lnSpc>
              <a:spcBef>
                <a:spcPts val="0"/>
              </a:spcBef>
              <a:spcAft>
                <a:spcPts val="0"/>
              </a:spcAft>
              <a:buNone/>
            </a:pPr>
            <a:r>
              <a:t/>
            </a:r>
            <a:endParaRPr sz="1050">
              <a:solidFill>
                <a:srgbClr val="1F1F1F"/>
              </a:solidFill>
              <a:highlight>
                <a:srgbClr val="FFFFFF"/>
              </a:highlight>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51" name="Shape 251"/>
        <p:cNvGrpSpPr/>
        <p:nvPr/>
      </p:nvGrpSpPr>
      <p:grpSpPr>
        <a:xfrm>
          <a:off x="0" y="0"/>
          <a:ext cx="0" cy="0"/>
          <a:chOff x="0" y="0"/>
          <a:chExt cx="0" cy="0"/>
        </a:xfrm>
      </p:grpSpPr>
      <p:sp>
        <p:nvSpPr>
          <p:cNvPr id="252" name="Google Shape;252;g33c0001f0a5_4_53"/>
          <p:cNvSpPr/>
          <p:nvPr/>
        </p:nvSpPr>
        <p:spPr>
          <a:xfrm>
            <a:off x="23370921" y="10515600"/>
            <a:ext cx="1016100" cy="32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g33c0001f0a5_4_53"/>
          <p:cNvSpPr/>
          <p:nvPr/>
        </p:nvSpPr>
        <p:spPr>
          <a:xfrm>
            <a:off x="-3938083" y="-1905000"/>
            <a:ext cx="18290400" cy="18288000"/>
          </a:xfrm>
          <a:prstGeom prst="ellipse">
            <a:avLst/>
          </a:prstGeom>
          <a:solidFill>
            <a:srgbClr val="0070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254" name="Google Shape;254;g33c0001f0a5_4_53"/>
          <p:cNvPicPr preferRelativeResize="0"/>
          <p:nvPr/>
        </p:nvPicPr>
        <p:blipFill rotWithShape="1">
          <a:blip r:embed="rId3">
            <a:alphaModFix/>
          </a:blip>
          <a:srcRect b="0" l="0" r="0" t="0"/>
          <a:stretch/>
        </p:blipFill>
        <p:spPr>
          <a:xfrm>
            <a:off x="10099570" y="1698175"/>
            <a:ext cx="5830029" cy="10871200"/>
          </a:xfrm>
          <a:prstGeom prst="rect">
            <a:avLst/>
          </a:prstGeom>
          <a:noFill/>
          <a:ln>
            <a:noFill/>
          </a:ln>
        </p:spPr>
      </p:pic>
      <p:sp>
        <p:nvSpPr>
          <p:cNvPr id="255" name="Google Shape;255;g33c0001f0a5_4_53"/>
          <p:cNvSpPr/>
          <p:nvPr/>
        </p:nvSpPr>
        <p:spPr>
          <a:xfrm>
            <a:off x="308575" y="6301950"/>
            <a:ext cx="9797100" cy="2682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7042"/>
              </a:buClr>
              <a:buSzPts val="12800"/>
              <a:buFont typeface="Red Hat Display Black"/>
              <a:buNone/>
            </a:pPr>
            <a:r>
              <a:rPr lang="en-US" sz="13100">
                <a:solidFill>
                  <a:schemeClr val="lt1"/>
                </a:solidFill>
                <a:latin typeface="Red Hat Display Black"/>
                <a:ea typeface="Red Hat Display Black"/>
                <a:cs typeface="Red Hat Display Black"/>
                <a:sym typeface="Red Hat Display Black"/>
              </a:rPr>
              <a:t>Thank You!</a:t>
            </a:r>
            <a:endParaRPr b="0" i="0" sz="13100" u="none" cap="none" strike="noStrik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2024-03-19T07:06:45Z</dcterms:created>
  <dc:creator>PptxGenJS</dc:creator>
</cp:coreProperties>
</file>